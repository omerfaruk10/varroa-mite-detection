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hHzkeMz7o6GmvtivNeS5LjHfAY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customschemas.google.com/relationships/presentationmetadata" Target="meta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Internal F1</c:v>
                </c:pt>
              </c:strCache>
            </c:strRef>
          </c:tx>
          <c:spPr>
            <a:solidFill>
              <a:srgbClr val="1C120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120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ResNet18
(Varroa)</c:v>
                  </c:pt>
                  <c:pt idx="1">
                    <c:v>ResNet18
(HoneyBee)</c:v>
                  </c:pt>
                  <c:pt idx="2">
                    <c:v>EfficientNet-B0
(Varroa)</c:v>
                  </c:pt>
                  <c:pt idx="3">
                    <c:v>EfficientNet-B0
(HoneyBee)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</c:v>
                </c:pt>
                <c:pt idx="1">
                  <c:v>0.88</c:v>
                </c:pt>
                <c:pt idx="2">
                  <c:v>0.91</c:v>
                </c:pt>
                <c:pt idx="3">
                  <c:v>0.93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External F1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120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ResNet18
(Varroa)</c:v>
                  </c:pt>
                  <c:pt idx="1">
                    <c:v>ResNet18
(HoneyBee)</c:v>
                  </c:pt>
                  <c:pt idx="2">
                    <c:v>EfficientNet-B0
(Varroa)</c:v>
                  </c:pt>
                  <c:pt idx="3">
                    <c:v>EfficientNet-B0
(HoneyBee)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0.82</c:v>
                </c:pt>
                <c:pt idx="1">
                  <c:v>0.74</c:v>
                </c:pt>
                <c:pt idx="2">
                  <c:v>0.85</c:v>
                </c:pt>
                <c:pt idx="3">
                  <c:v>0.71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C120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C120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6350" cap="flat">
              <a:solidFill>
                <a:srgbClr val="E8D5B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7D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DF6E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Internal mAP50</c:v>
                </c:pt>
              </c:strCache>
            </c:strRef>
          </c:tx>
          <c:spPr>
            <a:solidFill>
              <a:srgbClr val="1C120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120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YOLOv8n
(Varroa)</c:v>
                  </c:pt>
                  <c:pt idx="1">
                    <c:v>YOLOv26n
(Varroa)</c:v>
                  </c:pt>
                  <c:pt idx="2">
                    <c:v>YOLOv8n
(HoneyBee)</c:v>
                  </c:pt>
                  <c:pt idx="3">
                    <c:v>YOLOv26n
(HoneyBee)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0.86</c:v>
                </c:pt>
                <c:pt idx="1">
                  <c:v>0.812</c:v>
                </c:pt>
                <c:pt idx="2">
                  <c:v>0.823</c:v>
                </c:pt>
                <c:pt idx="3">
                  <c:v>0.795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External mAP50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120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YOLOv8n
(Varroa)</c:v>
                  </c:pt>
                  <c:pt idx="1">
                    <c:v>YOLOv26n
(Varroa)</c:v>
                  </c:pt>
                  <c:pt idx="2">
                    <c:v>YOLOv8n
(HoneyBee)</c:v>
                  </c:pt>
                  <c:pt idx="3">
                    <c:v>YOLOv26n
(HoneyBee)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0.629</c:v>
                </c:pt>
                <c:pt idx="1">
                  <c:v>0.557</c:v>
                </c:pt>
                <c:pt idx="2">
                  <c:v>0.241</c:v>
                </c:pt>
                <c:pt idx="3">
                  <c:v>0.198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C120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C120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8D5B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7D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DF6E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Internal mAP50</c:v>
                </c:pt>
              </c:strCache>
            </c:strRef>
          </c:tx>
          <c:spPr>
            <a:solidFill>
              <a:srgbClr val="1C120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120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RT-DETR
(Varroa)</c:v>
                  </c:pt>
                  <c:pt idx="1">
                    <c:v>Deformable
DETR (Varroa)</c:v>
                  </c:pt>
                  <c:pt idx="2">
                    <c:v>RT-DETR
(HoneyBee)</c:v>
                  </c:pt>
                  <c:pt idx="3">
                    <c:v>DETR
(Varroa)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0.815</c:v>
                </c:pt>
                <c:pt idx="1">
                  <c:v>0.792</c:v>
                </c:pt>
                <c:pt idx="2">
                  <c:v>0.768</c:v>
                </c:pt>
                <c:pt idx="3">
                  <c:v>0.621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External mAP50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120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RT-DETR
(Varroa)</c:v>
                  </c:pt>
                  <c:pt idx="1">
                    <c:v>Deformable
DETR (Varroa)</c:v>
                  </c:pt>
                  <c:pt idx="2">
                    <c:v>RT-DETR
(HoneyBee)</c:v>
                  </c:pt>
                  <c:pt idx="3">
                    <c:v>DETR
(Varroa)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0.712</c:v>
                </c:pt>
                <c:pt idx="1">
                  <c:v>0.698</c:v>
                </c:pt>
                <c:pt idx="2">
                  <c:v>0.678</c:v>
                </c:pt>
                <c:pt idx="3">
                  <c:v>0.482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C120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C120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8D5B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7D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DF6E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ad30530a1_3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ead30530a1_3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ead30530a1_3_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ead30530a1_3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ead30530a1_3_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" name="Google Shape;68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3" name="Google Shape;71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" name="Google Shape;74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5" name="Google Shape;80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8" name="Google Shape;84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6" name="Google Shape;88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3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20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229600" y="-182880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E1A0A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9006840" y="-182880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61508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784080" y="-182880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321C0C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10561320" y="-182880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E1A0A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11338560" y="-182880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61508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8613648" y="484632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61508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9390888" y="484632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321C0C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10168128" y="484632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E1A0A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10945368" y="484632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61508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11722608" y="484632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321C0C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8229600" y="1152144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321C0C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9006840" y="1152144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E1A0A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9784080" y="1152144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61508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10561320" y="1152144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321C0C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11338560" y="1152144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E1A0A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8613648" y="1819656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E1A0A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9390888" y="1819656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61508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10168128" y="1819656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321C0C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10945368" y="1819656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E1A0A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11722608" y="1819656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61508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8229600" y="2487168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61508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9006840" y="2487168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321C0C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9784080" y="2487168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E1A0A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10561320" y="2487168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61508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11338560" y="2487168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321C0C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MARMARA ÜNİVERSİTESİ  •  TEKNOLOJİ FAKÜLTESİ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457200" y="109728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Bilgisayar Mühendisliği Bölümü  •  Bitirme Projesi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457200" y="1965960"/>
            <a:ext cx="8229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Bal Arısı Kolonilerinde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457200" y="2788920"/>
            <a:ext cx="8229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CD34D"/>
                </a:solidFill>
                <a:latin typeface="Georgia"/>
                <a:ea typeface="Georgia"/>
                <a:cs typeface="Georgia"/>
                <a:sym typeface="Georgia"/>
              </a:rPr>
              <a:t>Varroa Paraziti Tespiti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457200" y="374904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Geleneksel ML, CNN ve Transformer Tabanlı Yaklaşımların Karşılaştırmalı Analizi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457200" y="4251960"/>
            <a:ext cx="1097280" cy="36576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457200" y="445312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ÖĞRENCİLER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457200" y="4709160"/>
            <a:ext cx="4114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Ömer Faruk Akçay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Gökdeniz Şeker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Doğukan Özek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4937760" y="445312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DANIŞMAN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4937760" y="470916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Doç. Dr. Ayşe Berna Altınel Girgin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457200" y="640080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Haziran 2026  •  İstanbul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0" y="91440"/>
            <a:ext cx="12161520" cy="36576"/>
          </a:xfrm>
          <a:prstGeom prst="rect">
            <a:avLst/>
          </a:prstGeom>
          <a:solidFill>
            <a:srgbClr val="FCD34D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BÖLÜM 1  •  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Problem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48640" y="1353312"/>
            <a:ext cx="59436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1051560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11018520" y="256032"/>
            <a:ext cx="457200" cy="4023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11521440" y="256032"/>
            <a:ext cx="457200" cy="4023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1076248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1126540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1176832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548640" y="1536192"/>
            <a:ext cx="9692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Varroa destructor, küresel arıcılığı tehdit eden en yıkıcı ektoparazittir. Etkisiz veya geç müdahale koloni çöküşüne yol açar.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548640" y="2589371"/>
            <a:ext cx="5303400" cy="182880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548640" y="2589371"/>
            <a:ext cx="73200" cy="18288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777240" y="2680811"/>
            <a:ext cx="4846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Biyolojik Tehdit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77240" y="3074003"/>
            <a:ext cx="48462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Arıların hemolenf ve yağ dokularından beslenir.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Bağışıklık sistemini zayıflatır.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Viral hastalıkların yayılımını hızlandırabilir.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6126480" y="2589371"/>
            <a:ext cx="5486400" cy="182880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6126480" y="2589371"/>
            <a:ext cx="73200" cy="18288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6355080" y="2680811"/>
            <a:ext cx="5029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Mevcut Yöntemlerin Sınırları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355080" y="3074003"/>
            <a:ext cx="50292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Manuel sayım zaman alıcıdır.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Kullanıcı hatasına açıktır.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Alkol yıkama gibi yöntemler arılara zarar verebilir.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Marmara Üniversitesi  •  Teknoloji Fakültesi  •  Bilgisayar Mühendisliği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0" y="91440"/>
            <a:ext cx="12161520" cy="36576"/>
          </a:xfrm>
          <a:prstGeom prst="rect">
            <a:avLst/>
          </a:prstGeom>
          <a:solidFill>
            <a:srgbClr val="FCD34D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BÖLÜM 1  •  AMAÇ VE KATKI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Projenin Amacı, Katkısı ve Yaklaşımı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48640" y="1353312"/>
            <a:ext cx="59436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1051560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1101852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1152144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1076248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1126540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1176832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822960" y="1627632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i="1" lang="en-US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Bu çalışma, Varroa tespitini yalnızca bir sınıflandırma problemi olarak değil; küçük nesne tespiti, veri seti genellenebilirliği ve model aileleri karşılaştırması problemi olarak ele almaktadır.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548640" y="2651760"/>
            <a:ext cx="3749100" cy="393180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548640" y="2651760"/>
            <a:ext cx="3749100" cy="639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731520" y="2788920"/>
            <a:ext cx="64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1371600" y="2788920"/>
            <a:ext cx="265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Hedefler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434850" y="2651750"/>
            <a:ext cx="3474600" cy="393180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4434850" y="2651750"/>
            <a:ext cx="3474600" cy="639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4617720" y="2788920"/>
            <a:ext cx="64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5257800" y="2788920"/>
            <a:ext cx="265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Akademik Katkı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617720" y="3337560"/>
            <a:ext cx="33834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Bağımsız dış test seti ile gerçekçi başarı ölçümü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Veri seti seçiminin model başarısına etkisi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Küçük nesne tespitinde model ailelerinin karşılaştırılması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8037675" y="2651750"/>
            <a:ext cx="3575100" cy="393180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8037675" y="2651750"/>
            <a:ext cx="3575100" cy="639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8212067" y="2788910"/>
            <a:ext cx="610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8822438" y="2788910"/>
            <a:ext cx="252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Yaklaşım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8212067" y="3337550"/>
            <a:ext cx="32262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3 veri seti: bağlamsal, morfolojik, external</a:t>
            </a:r>
            <a:endParaRPr b="0" i="0" sz="1200" u="none" cap="none" strike="noStrike">
              <a:solidFill>
                <a:srgbClr val="5C3D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Veri seti etkisi ve genellenebilirlik analizi </a:t>
            </a:r>
            <a:endParaRPr sz="1200">
              <a:solidFill>
                <a:srgbClr val="5C3D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Ortak metriklerle karşılaştırmalı değerlendirme</a:t>
            </a:r>
            <a:endParaRPr sz="1200">
              <a:solidFill>
                <a:srgbClr val="5C3D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Marmara Üniversitesi  •  Teknoloji Fakültesi  •  Bilgisayar Mühendisliği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731520" y="3337560"/>
            <a:ext cx="33834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Varroa parazitini görüntüler üzerinden tespit etmek </a:t>
            </a:r>
            <a:endParaRPr sz="1200">
              <a:solidFill>
                <a:srgbClr val="5C3D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Problemi hem sınıflandırma hem nesne tespiti olarak ele almak</a:t>
            </a:r>
            <a:endParaRPr sz="1200">
              <a:solidFill>
                <a:srgbClr val="5C3D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Geleneksel ML, CNN/YOLO ve Transformer yaklaşımlarını karşılaştırmak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0" y="91440"/>
            <a:ext cx="12161520" cy="36576"/>
          </a:xfrm>
          <a:prstGeom prst="rect">
            <a:avLst/>
          </a:prstGeom>
          <a:solidFill>
            <a:srgbClr val="FCD34D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BÖLÜM 2  •  LITERATÜR İNCELEMESI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Literatür İncelemesi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48640" y="1353312"/>
            <a:ext cx="59436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1051560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1101852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152144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1076248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1126540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1176832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548640" y="1600200"/>
            <a:ext cx="11064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9 akademik çalışma; kullanılan yöntem, veri yapısı ve uygulama ortamı açısından incelenmiştir.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48640" y="2194560"/>
            <a:ext cx="3749040" cy="434340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548640" y="2194560"/>
            <a:ext cx="3749040" cy="68580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1C12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731520" y="219456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Derin Öğrenme Tabanlı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731520" y="297180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YOLO, Faster R-CNN ve SSD gibi derin öğrenme tabanlı nesne tespit modelleriyle arı görüntüleri üzerinde Varroa tespiti yapılmıştır.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731520" y="4434840"/>
            <a:ext cx="457200" cy="36576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731520" y="457200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YÖNTEMLER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731520" y="482803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YOLO ailesi • Faster R-CNN / SSD • CNN tabanlı nesne tespiti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731520" y="5239512"/>
            <a:ext cx="3383280" cy="1097280"/>
          </a:xfrm>
          <a:prstGeom prst="rect">
            <a:avLst/>
          </a:prstGeom>
          <a:solidFill>
            <a:srgbClr val="F5EDD8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822960" y="5303520"/>
            <a:ext cx="3200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Yüksek doğruluk potansiyeli sunar; ancak veri kalitesi ve etiket tutarlılığına duyarlıdır.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434840" y="2194560"/>
            <a:ext cx="3749040" cy="434340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4434840" y="2194560"/>
            <a:ext cx="3749040" cy="68580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1C12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4617720" y="2194560"/>
            <a:ext cx="347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Donanım ve Sensör Tabanlı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617720" y="297180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Kovan girişlerine veya izleme düzeneklerine kamera sistemleri yerleştirilerek sürekli koloni takibi yapılmıştır.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617720" y="4434840"/>
            <a:ext cx="457200" cy="36576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4617720" y="457200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YÖNTEMLER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617720" y="482803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Kovan girişi izleme • Çok bantlı görüntüleme • Raspberry Pi / mobil sistemler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617720" y="5239512"/>
            <a:ext cx="3383280" cy="1097280"/>
          </a:xfrm>
          <a:prstGeom prst="rect">
            <a:avLst/>
          </a:prstGeom>
          <a:solidFill>
            <a:srgbClr val="F5EDD8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4709160" y="5303520"/>
            <a:ext cx="3200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Gerçek zamanlı izleme potansiyeli sunar; ancak ışık, kamera açısı ve saha kurulumu kritik hale gelir.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8321040" y="2194560"/>
            <a:ext cx="3749040" cy="434340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8321040" y="2194560"/>
            <a:ext cx="3749040" cy="68580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1C12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8503920" y="219456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Görüntü İşleme ve Hibrit Yaklaşımlar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8503920" y="297180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Renk, şekil, segmentasyon ve el yapımı görsel özellikler kullanılarak Varroa tespiti veya sayımı yapılmıştır.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8503920" y="4434840"/>
            <a:ext cx="457200" cy="36576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8503920" y="457200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YÖNTEMLER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8503920" y="482803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HSV / Hough • Segmentasyon • PCA + kNN + SVM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8503920" y="5239512"/>
            <a:ext cx="3383280" cy="1097280"/>
          </a:xfrm>
          <a:prstGeom prst="rect">
            <a:avLst/>
          </a:prstGeom>
          <a:solidFill>
            <a:srgbClr val="F5EDD8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8595360" y="5303520"/>
            <a:ext cx="3200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Daha yorumlanabilir ve düşük veri koşullarında avantajlıdır; ancak genellikle el yapımı özelliklere bağımlıdır.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Marmara Üniversitesi  •  Teknoloji Fakültesi  •  Bilgisayar Mühendisliği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0" y="91440"/>
            <a:ext cx="12161520" cy="36576"/>
          </a:xfrm>
          <a:prstGeom prst="rect">
            <a:avLst/>
          </a:prstGeom>
          <a:solidFill>
            <a:srgbClr val="FCD34D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BÖLÜM 3  •  VERI SETI STRATEJISI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Veri Seti Stratejisi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548640" y="1353312"/>
            <a:ext cx="59436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1051560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1101852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1152144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1076248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1126540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1176832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Üç katmanlı veri yapısı: iki geliştirme seti ve eğitim/model seçimine dahil edilmeyen bağımsız dış test seti.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548640" y="2176272"/>
            <a:ext cx="11064240" cy="45720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1C12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658368" y="217627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2578608" y="2176272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 Seti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5230368" y="217627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Varroasız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6601968" y="2176272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Varroalı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8065008" y="217627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Toplam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9436608" y="2176272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Açıklama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548640" y="2651760"/>
            <a:ext cx="1106424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685800" y="276148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Bağlamsal Öğrenme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685800" y="31546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(Geliştirme)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2560320" y="2651760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Varroa 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5120640" y="2651760"/>
            <a:ext cx="1371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5C3D1E"/>
                </a:solidFill>
                <a:latin typeface="Georgia"/>
                <a:ea typeface="Georgia"/>
                <a:cs typeface="Georgia"/>
                <a:sym typeface="Georgia"/>
              </a:rPr>
              <a:t>9,15</a:t>
            </a:r>
            <a:r>
              <a:rPr b="1" lang="en-US">
                <a:solidFill>
                  <a:srgbClr val="5C3D1E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6492240" y="2651760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5C3D1E"/>
                </a:solidFill>
                <a:latin typeface="Georgia"/>
                <a:ea typeface="Georgia"/>
                <a:cs typeface="Georgia"/>
                <a:sym typeface="Georgia"/>
              </a:rPr>
              <a:t>4,337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7955280" y="2651760"/>
            <a:ext cx="1371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13,49</a:t>
            </a:r>
            <a:r>
              <a:rPr b="1" lang="en-US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9418320" y="265176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Arı + Varroa birlikte etiketli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548640" y="3703320"/>
            <a:ext cx="11064240" cy="1005840"/>
          </a:xfrm>
          <a:prstGeom prst="rect">
            <a:avLst/>
          </a:prstGeom>
          <a:solidFill>
            <a:srgbClr val="FFFBF2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685800" y="381304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Morfolojik Odaklı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685800" y="420624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(Geliştirme)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2560320" y="3703320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HoneyBee VarroaMite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5120640" y="3703320"/>
            <a:ext cx="1371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5C3D1E"/>
                </a:solidFill>
                <a:latin typeface="Georgia"/>
                <a:ea typeface="Georgia"/>
                <a:cs typeface="Georgia"/>
                <a:sym typeface="Georgia"/>
              </a:rPr>
              <a:t>5,115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6492240" y="3703320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5C3D1E"/>
                </a:solidFill>
                <a:latin typeface="Georgia"/>
                <a:ea typeface="Georgia"/>
                <a:cs typeface="Georgia"/>
                <a:sym typeface="Georgia"/>
              </a:rPr>
              <a:t>9,079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7955280" y="3703320"/>
            <a:ext cx="1371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14,194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9418320" y="370332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Yalnızca Varroa etiketleri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548640" y="4754880"/>
            <a:ext cx="11064240" cy="1005840"/>
          </a:xfrm>
          <a:prstGeom prst="rect">
            <a:avLst/>
          </a:prstGeom>
          <a:solidFill>
            <a:srgbClr val="FFF3DC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548640" y="4754880"/>
            <a:ext cx="73152" cy="10058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685800" y="486460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Bağımsız Dış Test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685800" y="52578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1000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Dış Test</a:t>
            </a:r>
            <a:r>
              <a:rPr b="0" i="1" lang="en-US" sz="10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2560320" y="4754880"/>
            <a:ext cx="2651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Varroa Mites Detector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5120640" y="4754880"/>
            <a:ext cx="1371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5C3D1E"/>
                </a:solidFill>
                <a:latin typeface="Georgia"/>
                <a:ea typeface="Georgia"/>
                <a:cs typeface="Georgia"/>
                <a:sym typeface="Georgia"/>
              </a:rPr>
              <a:t>3,791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6492240" y="4754880"/>
            <a:ext cx="1463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5C3D1E"/>
                </a:solidFill>
                <a:latin typeface="Georgia"/>
                <a:ea typeface="Georgia"/>
                <a:cs typeface="Georgia"/>
                <a:sym typeface="Georgia"/>
              </a:rPr>
              <a:t>2,147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7955280" y="4754880"/>
            <a:ext cx="1371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5,938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9418320" y="4754880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Eğitimden tamamen ayrı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solidFill>
            <a:srgbClr val="F5EDD8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685800" y="580644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TOPLAM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7955280" y="580644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33,62</a:t>
            </a:r>
            <a:r>
              <a:rPr b="1" lang="en-US" sz="1300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Marmara Üniversitesi  •  Teknoloji Fakültesi  •  Bilgisayar Mühendisliği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0" y="91440"/>
            <a:ext cx="12161520" cy="36576"/>
          </a:xfrm>
          <a:prstGeom prst="rect">
            <a:avLst/>
          </a:prstGeom>
          <a:solidFill>
            <a:srgbClr val="FCD34D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BÖLÜM 3  •  DENEYSEL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Deneysel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548640" y="1353312"/>
            <a:ext cx="59436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1051560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1101852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1152144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1076248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1126540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1176832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Farklı model aileleri, kendi veri hazırlama süreçleriyle eğitilmiş; internal ve external validation üzerinden sistematik biçimde karşılaştırılmıştır.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548640" y="2331720"/>
            <a:ext cx="1767840" cy="182880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1C12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640080" y="2423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548640" y="2834640"/>
            <a:ext cx="1767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Veri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Hazırlık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621792" y="3520440"/>
            <a:ext cx="16215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D9A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DD9A3"/>
                </a:solidFill>
                <a:latin typeface="Calibri"/>
                <a:ea typeface="Calibri"/>
                <a:cs typeface="Calibri"/>
                <a:sym typeface="Calibri"/>
              </a:rPr>
              <a:t>Etiket kontrolü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D9A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DD9A3"/>
                </a:solidFill>
                <a:latin typeface="Calibri"/>
                <a:ea typeface="Calibri"/>
                <a:cs typeface="Calibri"/>
                <a:sym typeface="Calibri"/>
              </a:rPr>
              <a:t>format standardı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D9A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DD9A3"/>
                </a:solidFill>
                <a:latin typeface="Calibri"/>
                <a:ea typeface="Calibri"/>
                <a:cs typeface="Calibri"/>
                <a:sym typeface="Calibri"/>
              </a:rPr>
              <a:t>görev bazlı veri yapısı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 rot="5400000">
            <a:off x="2316480" y="3154680"/>
            <a:ext cx="91440" cy="109728"/>
          </a:xfrm>
          <a:prstGeom prst="rtTriangl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2407920" y="2331720"/>
            <a:ext cx="1767840" cy="182880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1C12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2499360" y="2423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2407920" y="2834640"/>
            <a:ext cx="1767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Özellik 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Model Seçimi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2481072" y="3520440"/>
            <a:ext cx="16215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D9A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DD9A3"/>
                </a:solidFill>
                <a:latin typeface="Calibri"/>
                <a:ea typeface="Calibri"/>
                <a:cs typeface="Calibri"/>
                <a:sym typeface="Calibri"/>
              </a:rPr>
              <a:t>HOG/HSV/LBP/PCA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D9A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DD9A3"/>
                </a:solidFill>
                <a:latin typeface="Calibri"/>
                <a:ea typeface="Calibri"/>
                <a:cs typeface="Calibri"/>
                <a:sym typeface="Calibri"/>
              </a:rPr>
              <a:t>CNN/YOLO mimarileri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D9A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DD9A3"/>
                </a:solidFill>
                <a:latin typeface="Calibri"/>
                <a:ea typeface="Calibri"/>
                <a:cs typeface="Calibri"/>
                <a:sym typeface="Calibri"/>
              </a:rPr>
              <a:t>DETR ailesi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 rot="5400000">
            <a:off x="4175760" y="3154680"/>
            <a:ext cx="91440" cy="109728"/>
          </a:xfrm>
          <a:prstGeom prst="rtTriangl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4267200" y="2331720"/>
            <a:ext cx="1767840" cy="182880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1C12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4358640" y="2423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4267200" y="2834640"/>
            <a:ext cx="1767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Eğitim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4340352" y="3520440"/>
            <a:ext cx="16215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D9A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DD9A3"/>
                </a:solidFill>
                <a:latin typeface="Calibri"/>
                <a:ea typeface="Calibri"/>
                <a:cs typeface="Calibri"/>
                <a:sym typeface="Calibri"/>
              </a:rPr>
              <a:t>3 model ailesi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D9A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DD9A3"/>
                </a:solidFill>
                <a:latin typeface="Calibri"/>
                <a:ea typeface="Calibri"/>
                <a:cs typeface="Calibri"/>
                <a:sym typeface="Calibri"/>
              </a:rPr>
              <a:t>ayrı hattan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D9A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DD9A3"/>
                </a:solidFill>
                <a:latin typeface="Calibri"/>
                <a:ea typeface="Calibri"/>
                <a:cs typeface="Calibri"/>
                <a:sym typeface="Calibri"/>
              </a:rPr>
              <a:t>eğitim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 rot="5400000">
            <a:off x="6035040" y="3154680"/>
            <a:ext cx="91440" cy="109728"/>
          </a:xfrm>
          <a:prstGeom prst="rtTriangl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6126480" y="2331720"/>
            <a:ext cx="1767840" cy="182880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1C12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6217920" y="2423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6126480" y="2834640"/>
            <a:ext cx="1767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Internal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Validation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6199632" y="3520440"/>
            <a:ext cx="16215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D9A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DD9A3"/>
                </a:solidFill>
                <a:latin typeface="Calibri"/>
                <a:ea typeface="Calibri"/>
                <a:cs typeface="Calibri"/>
                <a:sym typeface="Calibri"/>
              </a:rPr>
              <a:t>Geliştirme seti içinde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D9A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DD9A3"/>
                </a:solidFill>
                <a:latin typeface="Calibri"/>
                <a:ea typeface="Calibri"/>
                <a:cs typeface="Calibri"/>
                <a:sym typeface="Calibri"/>
              </a:rPr>
              <a:t>validation/test split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D9A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DD9A3"/>
                </a:solidFill>
                <a:latin typeface="Calibri"/>
                <a:ea typeface="Calibri"/>
                <a:cs typeface="Calibri"/>
                <a:sym typeface="Calibri"/>
              </a:rPr>
              <a:t>değerlendirmesi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 rot="5400000">
            <a:off x="7894320" y="3154680"/>
            <a:ext cx="91440" cy="109728"/>
          </a:xfrm>
          <a:prstGeom prst="rtTriangl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7985760" y="2331720"/>
            <a:ext cx="1767840" cy="18288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1C12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/>
          <p:nvPr/>
        </p:nvSpPr>
        <p:spPr>
          <a:xfrm>
            <a:off x="8077200" y="2423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7985760" y="2834640"/>
            <a:ext cx="1767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External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Validation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8058912" y="3520440"/>
            <a:ext cx="16215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2A1C0E"/>
                </a:solidFill>
                <a:latin typeface="Calibri"/>
                <a:ea typeface="Calibri"/>
                <a:cs typeface="Calibri"/>
                <a:sym typeface="Calibri"/>
              </a:rPr>
              <a:t>Bağımsız dış set</a:t>
            </a:r>
            <a:endParaRPr sz="950">
              <a:solidFill>
                <a:srgbClr val="2A1C0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2A1C0E"/>
                </a:solidFill>
                <a:latin typeface="Calibri"/>
                <a:ea typeface="Calibri"/>
                <a:cs typeface="Calibri"/>
                <a:sym typeface="Calibri"/>
              </a:rPr>
              <a:t>genellenebilirlik</a:t>
            </a:r>
            <a:endParaRPr sz="950">
              <a:solidFill>
                <a:srgbClr val="2A1C0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1C0E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A1C0E"/>
                </a:solidFill>
                <a:latin typeface="Calibri"/>
                <a:ea typeface="Calibri"/>
                <a:cs typeface="Calibri"/>
                <a:sym typeface="Calibri"/>
              </a:rPr>
              <a:t>ölçümü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 rot="5400000">
            <a:off x="9753600" y="3154680"/>
            <a:ext cx="91440" cy="109728"/>
          </a:xfrm>
          <a:prstGeom prst="rtTriangl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9845040" y="2331720"/>
            <a:ext cx="1767840" cy="18288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1C12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/>
          <p:nvPr/>
        </p:nvSpPr>
        <p:spPr>
          <a:xfrm>
            <a:off x="9936480" y="2423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9845040" y="2834640"/>
            <a:ext cx="1767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Karşılaştırmalı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Analiz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9918192" y="3520440"/>
            <a:ext cx="16215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1C0E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A1C0E"/>
                </a:solidFill>
                <a:latin typeface="Calibri"/>
                <a:ea typeface="Calibri"/>
                <a:cs typeface="Calibri"/>
                <a:sym typeface="Calibri"/>
              </a:rPr>
              <a:t>F1-score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1C0E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A1C0E"/>
                </a:solidFill>
                <a:latin typeface="Calibri"/>
                <a:ea typeface="Calibri"/>
                <a:cs typeface="Calibri"/>
                <a:sym typeface="Calibri"/>
              </a:rPr>
              <a:t>mAP50 / mAP50-95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1C0E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2A1C0E"/>
                </a:solidFill>
                <a:latin typeface="Calibri"/>
                <a:ea typeface="Calibri"/>
                <a:cs typeface="Calibri"/>
                <a:sym typeface="Calibri"/>
              </a:rPr>
              <a:t>IoU tabanlı analiz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548640" y="5074920"/>
            <a:ext cx="3749040" cy="141732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"/>
          <p:cNvSpPr/>
          <p:nvPr/>
        </p:nvSpPr>
        <p:spPr>
          <a:xfrm>
            <a:off x="548640" y="5074920"/>
            <a:ext cx="3749040" cy="6400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"/>
          <p:cNvSpPr/>
          <p:nvPr/>
        </p:nvSpPr>
        <p:spPr>
          <a:xfrm>
            <a:off x="731520" y="523036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Hem Sınıflandırma Hem Tespit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731520" y="5596128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Sınıflandırma: var/yok kararı. Nesne tespiti: parazitin konumu</a:t>
            </a: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. İkisi ayrı modeller ve metriklerle değerlendirildi.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4434840" y="5074920"/>
            <a:ext cx="3749040" cy="141732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4434840" y="5074920"/>
            <a:ext cx="3749040" cy="6400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6"/>
          <p:cNvSpPr/>
          <p:nvPr/>
        </p:nvSpPr>
        <p:spPr>
          <a:xfrm>
            <a:off x="4617720" y="523036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Üç Veri Seti Stratejisi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4617720" y="5596128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İki geliştirme seti (bağlamsal + morfolojik), bir bağımsız dış test seti.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8321040" y="5074920"/>
            <a:ext cx="3749040" cy="141732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6"/>
          <p:cNvSpPr/>
          <p:nvPr/>
        </p:nvSpPr>
        <p:spPr>
          <a:xfrm>
            <a:off x="8321040" y="5074920"/>
            <a:ext cx="3749040" cy="6400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6"/>
          <p:cNvSpPr/>
          <p:nvPr/>
        </p:nvSpPr>
        <p:spPr>
          <a:xfrm>
            <a:off x="8503920" y="523036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Adil Karşılaştırma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8503920" y="5596128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Model aileleri, görev türüne uygun metriklerle ve aynı internal/external değerlendirme mantığıyla karşılaştırıldı.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Marmara Üniversitesi  •  Teknoloji Fakültesi  •  Bilgisayar Mühendisliği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0" y="91440"/>
            <a:ext cx="12161520" cy="36576"/>
          </a:xfrm>
          <a:prstGeom prst="rect">
            <a:avLst/>
          </a:prstGeom>
          <a:solidFill>
            <a:srgbClr val="FCD34D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BÖLÜM 3  •  KARŞILAŞTIRILAN MODELLER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Karşılaştırılan Üç Model Ailesi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548640" y="1353312"/>
            <a:ext cx="59436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1051560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1101852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1152144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1076248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1126540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1176832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Üç model ailesi; sınıflandırma, nesne tespiti ve genellenebilirlik açısından karşılaştırılmıştır.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548640" y="2194560"/>
            <a:ext cx="3749040" cy="438912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548640" y="2194560"/>
            <a:ext cx="3749040" cy="77724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1C12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548640" y="2194560"/>
            <a:ext cx="374904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731520" y="2267712"/>
            <a:ext cx="3474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Geleneksel ML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731520" y="26517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El yapımı özellikler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731520" y="3090672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MODELLER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822960" y="3346704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SVM (Linear / RBF)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731520" y="4645152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TEKNİK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822960" y="4901184"/>
            <a:ext cx="32918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HOG, HSV, LBP, PCA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"/>
              </a:spcBef>
              <a:spcAft>
                <a:spcPts val="0"/>
              </a:spcAft>
              <a:buClr>
                <a:srgbClr val="A87D3A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Patch tabanlı sınıflandırma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"/>
              </a:spcBef>
              <a:spcAft>
                <a:spcPts val="0"/>
              </a:spcAft>
              <a:buClr>
                <a:srgbClr val="A87D3A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Sliding-window tespit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4434840" y="2194560"/>
            <a:ext cx="3749040" cy="438912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4434840" y="2194560"/>
            <a:ext cx="3749040" cy="77724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1C12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4434840" y="2194560"/>
            <a:ext cx="374904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7"/>
          <p:cNvSpPr/>
          <p:nvPr/>
        </p:nvSpPr>
        <p:spPr>
          <a:xfrm>
            <a:off x="4617720" y="2267712"/>
            <a:ext cx="3474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CNN &amp; YOLO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4617720" y="26517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Derin öğrenme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4617720" y="3090672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MODELLER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4709160" y="3346704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ResNet18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EfficientNet-B0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YOLOv26n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4617720" y="4645152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TEKNİK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4709160" y="4901184"/>
            <a:ext cx="32918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Transfer learning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"/>
              </a:spcBef>
              <a:spcAft>
                <a:spcPts val="0"/>
              </a:spcAft>
              <a:buClr>
                <a:srgbClr val="A87D3A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224×224 / 640×640 giriş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"/>
              </a:spcBef>
              <a:spcAft>
                <a:spcPts val="0"/>
              </a:spcAft>
              <a:buClr>
                <a:srgbClr val="A87D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End-to-end öğrenme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8321040" y="2194560"/>
            <a:ext cx="3749040" cy="438912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7"/>
          <p:cNvSpPr/>
          <p:nvPr/>
        </p:nvSpPr>
        <p:spPr>
          <a:xfrm>
            <a:off x="8321040" y="2194560"/>
            <a:ext cx="3749040" cy="77724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1C12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7"/>
          <p:cNvSpPr/>
          <p:nvPr/>
        </p:nvSpPr>
        <p:spPr>
          <a:xfrm>
            <a:off x="8321040" y="2194560"/>
            <a:ext cx="374904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8503920" y="2267712"/>
            <a:ext cx="3474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Transformer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8503920" y="26517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Dikkat mekanizması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8503920" y="3090672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MODELLER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8595360" y="3346704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DETR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Deformable DETR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RT-DETR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8503920" y="4645152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TEKNİK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8595360" y="4901184"/>
            <a:ext cx="32918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Global attention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"/>
              </a:spcBef>
              <a:spcAft>
                <a:spcPts val="0"/>
              </a:spcAft>
              <a:buClr>
                <a:srgbClr val="A87D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Çok ölçekli özellik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"/>
              </a:spcBef>
              <a:spcAft>
                <a:spcPts val="0"/>
              </a:spcAft>
              <a:buClr>
                <a:srgbClr val="A87D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Anchor-free tespit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Marmara Üniversitesi  •  Teknoloji Fakültesi  •  Bilgisayar Mühendisliği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ad30530a1_3_90"/>
          <p:cNvSpPr/>
          <p:nvPr/>
        </p:nvSpPr>
        <p:spPr>
          <a:xfrm>
            <a:off x="0" y="0"/>
            <a:ext cx="12161400" cy="915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ead30530a1_3_90"/>
          <p:cNvSpPr/>
          <p:nvPr/>
        </p:nvSpPr>
        <p:spPr>
          <a:xfrm>
            <a:off x="0" y="91440"/>
            <a:ext cx="12161400" cy="36600"/>
          </a:xfrm>
          <a:prstGeom prst="rect">
            <a:avLst/>
          </a:prstGeom>
          <a:solidFill>
            <a:srgbClr val="FCD34D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ead30530a1_3_90"/>
          <p:cNvSpPr/>
          <p:nvPr/>
        </p:nvSpPr>
        <p:spPr>
          <a:xfrm>
            <a:off x="548640" y="256032"/>
            <a:ext cx="914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Bölüm 4 </a:t>
            </a: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 •  GELENEKSEL 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ead30530a1_3_90"/>
          <p:cNvSpPr/>
          <p:nvPr/>
        </p:nvSpPr>
        <p:spPr>
          <a:xfrm>
            <a:off x="10515600" y="256032"/>
            <a:ext cx="457200" cy="4023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ead30530a1_3_90"/>
          <p:cNvSpPr/>
          <p:nvPr/>
        </p:nvSpPr>
        <p:spPr>
          <a:xfrm>
            <a:off x="11018520" y="256032"/>
            <a:ext cx="457200" cy="4023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ead30530a1_3_90"/>
          <p:cNvSpPr/>
          <p:nvPr/>
        </p:nvSpPr>
        <p:spPr>
          <a:xfrm>
            <a:off x="11521440" y="256032"/>
            <a:ext cx="457200" cy="4023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ead30530a1_3_90"/>
          <p:cNvSpPr/>
          <p:nvPr/>
        </p:nvSpPr>
        <p:spPr>
          <a:xfrm>
            <a:off x="10762488" y="694944"/>
            <a:ext cx="457200" cy="4023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ead30530a1_3_90"/>
          <p:cNvSpPr/>
          <p:nvPr/>
        </p:nvSpPr>
        <p:spPr>
          <a:xfrm>
            <a:off x="11265408" y="694944"/>
            <a:ext cx="457200" cy="4023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ead30530a1_3_90"/>
          <p:cNvSpPr/>
          <p:nvPr/>
        </p:nvSpPr>
        <p:spPr>
          <a:xfrm>
            <a:off x="11768328" y="694944"/>
            <a:ext cx="457200" cy="4023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ead30530a1_3_90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ML: Veri Hazırlama ve Özellik Mühendisliği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ead30530a1_3_90"/>
          <p:cNvSpPr/>
          <p:nvPr/>
        </p:nvSpPr>
        <p:spPr>
          <a:xfrm>
            <a:off x="548640" y="1353312"/>
            <a:ext cx="594300" cy="549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ead30530a1_3_90"/>
          <p:cNvSpPr/>
          <p:nvPr/>
        </p:nvSpPr>
        <p:spPr>
          <a:xfrm>
            <a:off x="548640" y="1536192"/>
            <a:ext cx="11064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Geleneksel ML hattında görüntü bölgeleri pozitif/negatif patch örnekleri olarak tanımlanmış ve bu bölgelerden el yapımı özellikler çıkarılmıştır.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ead30530a1_3_90"/>
          <p:cNvSpPr/>
          <p:nvPr/>
        </p:nvSpPr>
        <p:spPr>
          <a:xfrm>
            <a:off x="548650" y="2103125"/>
            <a:ext cx="5577900" cy="195450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ead30530a1_3_90"/>
          <p:cNvSpPr/>
          <p:nvPr/>
        </p:nvSpPr>
        <p:spPr>
          <a:xfrm>
            <a:off x="548650" y="2103125"/>
            <a:ext cx="73200" cy="19545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ead30530a1_3_90"/>
          <p:cNvSpPr/>
          <p:nvPr/>
        </p:nvSpPr>
        <p:spPr>
          <a:xfrm>
            <a:off x="777250" y="2189992"/>
            <a:ext cx="52122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400"/>
              <a:buFont typeface="Georgia"/>
              <a:buNone/>
            </a:pPr>
            <a:r>
              <a:rPr b="1" lang="en-US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Patch Stratejisi ve Sliding-Window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ead30530a1_3_90"/>
          <p:cNvSpPr/>
          <p:nvPr/>
        </p:nvSpPr>
        <p:spPr>
          <a:xfrm>
            <a:off x="777250" y="2598271"/>
            <a:ext cx="5212200" cy="13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Her veri seti için 2 denge × 3 bölge boyutu × 13 özellik kombinasyonu denendi.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Toplamda 156 Linear SVM modeliyle geniş bir tarama yapıldı.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Seçilen 18 kombinasyon, RBF SVM ve Random Forest ile detaylandırıldı.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Kayan pencere ile tam görüntü üzerinde aday tespit kutuları üretildi.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Çakışan adaylar birleştirme/filtreleme ile nihai kutulara dönüştürüldü.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ead30530a1_3_90"/>
          <p:cNvSpPr/>
          <p:nvPr/>
        </p:nvSpPr>
        <p:spPr>
          <a:xfrm>
            <a:off x="6309350" y="2103125"/>
            <a:ext cx="5486400" cy="195450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ead30530a1_3_90"/>
          <p:cNvSpPr/>
          <p:nvPr/>
        </p:nvSpPr>
        <p:spPr>
          <a:xfrm>
            <a:off x="6309350" y="2103125"/>
            <a:ext cx="73200" cy="19545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ead30530a1_3_90"/>
          <p:cNvSpPr/>
          <p:nvPr/>
        </p:nvSpPr>
        <p:spPr>
          <a:xfrm>
            <a:off x="6537950" y="2189991"/>
            <a:ext cx="5120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Çıkarılan Özellikler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ead30530a1_3_90"/>
          <p:cNvSpPr/>
          <p:nvPr/>
        </p:nvSpPr>
        <p:spPr>
          <a:xfrm>
            <a:off x="6537950" y="2606951"/>
            <a:ext cx="7773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HOG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ead30530a1_3_90"/>
          <p:cNvSpPr/>
          <p:nvPr/>
        </p:nvSpPr>
        <p:spPr>
          <a:xfrm>
            <a:off x="7315190" y="2606951"/>
            <a:ext cx="42978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Kenar ve gradyan yönleri — şekil tanıma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ead30530a1_3_90"/>
          <p:cNvSpPr/>
          <p:nvPr/>
        </p:nvSpPr>
        <p:spPr>
          <a:xfrm>
            <a:off x="6537950" y="2910985"/>
            <a:ext cx="7773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HSV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ead30530a1_3_90"/>
          <p:cNvSpPr/>
          <p:nvPr/>
        </p:nvSpPr>
        <p:spPr>
          <a:xfrm>
            <a:off x="7315190" y="2910985"/>
            <a:ext cx="42978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Renk dağılımı — kahverengi Varroa tonu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ead30530a1_3_90"/>
          <p:cNvSpPr/>
          <p:nvPr/>
        </p:nvSpPr>
        <p:spPr>
          <a:xfrm>
            <a:off x="6537950" y="3215018"/>
            <a:ext cx="7773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LBP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ead30530a1_3_90"/>
          <p:cNvSpPr/>
          <p:nvPr/>
        </p:nvSpPr>
        <p:spPr>
          <a:xfrm>
            <a:off x="7315190" y="3215018"/>
            <a:ext cx="42978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Doku örüntüsü — yüzey yapısı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ead30530a1_3_90"/>
          <p:cNvSpPr/>
          <p:nvPr/>
        </p:nvSpPr>
        <p:spPr>
          <a:xfrm>
            <a:off x="6537950" y="3519051"/>
            <a:ext cx="7773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PCA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ead30530a1_3_90"/>
          <p:cNvSpPr/>
          <p:nvPr/>
        </p:nvSpPr>
        <p:spPr>
          <a:xfrm>
            <a:off x="7315190" y="3519051"/>
            <a:ext cx="42978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Boyut indirgeme — maliyet/gürültü azaltma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ead30530a1_3_90"/>
          <p:cNvSpPr/>
          <p:nvPr/>
        </p:nvSpPr>
        <p:spPr>
          <a:xfrm>
            <a:off x="548650" y="4193731"/>
            <a:ext cx="3677400" cy="1188600"/>
          </a:xfrm>
          <a:prstGeom prst="rect">
            <a:avLst/>
          </a:prstGeom>
          <a:solidFill>
            <a:srgbClr val="F5EDD8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ead30530a1_3_90"/>
          <p:cNvSpPr/>
          <p:nvPr/>
        </p:nvSpPr>
        <p:spPr>
          <a:xfrm>
            <a:off x="548650" y="4193731"/>
            <a:ext cx="3677400" cy="639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ead30530a1_3_90"/>
          <p:cNvSpPr/>
          <p:nvPr/>
        </p:nvSpPr>
        <p:spPr>
          <a:xfrm>
            <a:off x="728038" y="4349179"/>
            <a:ext cx="331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Linear SVM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ead30530a1_3_90"/>
          <p:cNvSpPr/>
          <p:nvPr/>
        </p:nvSpPr>
        <p:spPr>
          <a:xfrm>
            <a:off x="728038" y="4742370"/>
            <a:ext cx="3318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Düşük maliyetli ön tarama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ead30530a1_3_90"/>
          <p:cNvSpPr/>
          <p:nvPr/>
        </p:nvSpPr>
        <p:spPr>
          <a:xfrm>
            <a:off x="4360644" y="4193731"/>
            <a:ext cx="3677400" cy="1188600"/>
          </a:xfrm>
          <a:prstGeom prst="rect">
            <a:avLst/>
          </a:prstGeom>
          <a:solidFill>
            <a:srgbClr val="F5EDD8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ead30530a1_3_90"/>
          <p:cNvSpPr/>
          <p:nvPr/>
        </p:nvSpPr>
        <p:spPr>
          <a:xfrm>
            <a:off x="4360644" y="4193731"/>
            <a:ext cx="3677400" cy="639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ead30530a1_3_90"/>
          <p:cNvSpPr/>
          <p:nvPr/>
        </p:nvSpPr>
        <p:spPr>
          <a:xfrm>
            <a:off x="4540032" y="4349179"/>
            <a:ext cx="331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RBF SVM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ead30530a1_3_90"/>
          <p:cNvSpPr/>
          <p:nvPr/>
        </p:nvSpPr>
        <p:spPr>
          <a:xfrm>
            <a:off x="4540032" y="4742370"/>
            <a:ext cx="3318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Doğrusal olmayan, kernel tabanlı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ead30530a1_3_90"/>
          <p:cNvSpPr/>
          <p:nvPr/>
        </p:nvSpPr>
        <p:spPr>
          <a:xfrm>
            <a:off x="8172638" y="4193731"/>
            <a:ext cx="3677400" cy="1188600"/>
          </a:xfrm>
          <a:prstGeom prst="rect">
            <a:avLst/>
          </a:prstGeom>
          <a:solidFill>
            <a:srgbClr val="F5EDD8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ead30530a1_3_90"/>
          <p:cNvSpPr/>
          <p:nvPr/>
        </p:nvSpPr>
        <p:spPr>
          <a:xfrm>
            <a:off x="8172638" y="4193731"/>
            <a:ext cx="3677400" cy="639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ead30530a1_3_90"/>
          <p:cNvSpPr/>
          <p:nvPr/>
        </p:nvSpPr>
        <p:spPr>
          <a:xfrm>
            <a:off x="8352026" y="4349179"/>
            <a:ext cx="331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Random Forest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ead30530a1_3_90"/>
          <p:cNvSpPr/>
          <p:nvPr/>
        </p:nvSpPr>
        <p:spPr>
          <a:xfrm>
            <a:off x="8352026" y="4742370"/>
            <a:ext cx="3318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Karar ağaçları topluluğu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ead30530a1_3_90"/>
          <p:cNvSpPr/>
          <p:nvPr/>
        </p:nvSpPr>
        <p:spPr>
          <a:xfrm>
            <a:off x="548650" y="5519600"/>
            <a:ext cx="11301300" cy="96000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ead30530a1_3_90"/>
          <p:cNvSpPr/>
          <p:nvPr/>
        </p:nvSpPr>
        <p:spPr>
          <a:xfrm>
            <a:off x="548650" y="5519600"/>
            <a:ext cx="74700" cy="9600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ead30530a1_3_90"/>
          <p:cNvSpPr/>
          <p:nvPr/>
        </p:nvSpPr>
        <p:spPr>
          <a:xfrm>
            <a:off x="828847" y="5583608"/>
            <a:ext cx="10927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Güçlü yön: </a:t>
            </a:r>
            <a:r>
              <a:rPr b="0" i="0" lang="en-US" sz="1200" u="none" cap="none" strike="noStrike">
                <a:solidFill>
                  <a:srgbClr val="F5E6C8"/>
                </a:solidFill>
                <a:latin typeface="Calibri"/>
                <a:ea typeface="Calibri"/>
                <a:cs typeface="Calibri"/>
                <a:sym typeface="Calibri"/>
              </a:rPr>
              <a:t>Görüntü bölgesi düzeyinde yorumlanabilir ve düşük maliyetli sınıflandırma sağlar.</a:t>
            </a:r>
            <a:endParaRPr sz="1200">
              <a:solidFill>
                <a:srgbClr val="F5E6C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Sınırlılık: </a:t>
            </a:r>
            <a:r>
              <a:rPr b="0" i="0" lang="en-US" sz="1200" u="none" cap="none" strike="noStrike">
                <a:solidFill>
                  <a:srgbClr val="F5E6C8"/>
                </a:solidFill>
                <a:latin typeface="Calibri"/>
                <a:ea typeface="Calibri"/>
                <a:cs typeface="Calibri"/>
                <a:sym typeface="Calibri"/>
              </a:rPr>
              <a:t>Tam görüntü tespitinde kayan pencere, çok sayıda aday pencere ve yanlış pozitif nedeniyle performans kaybına yol açabilir.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ead30530a1_3_90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Marmara Üniversitesi  •  Teknoloji Fakültesi  •  Bilgisayar Mühendisliği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ead30530a1_3_138"/>
          <p:cNvSpPr/>
          <p:nvPr/>
        </p:nvSpPr>
        <p:spPr>
          <a:xfrm>
            <a:off x="0" y="0"/>
            <a:ext cx="12161400" cy="915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ead30530a1_3_138"/>
          <p:cNvSpPr/>
          <p:nvPr/>
        </p:nvSpPr>
        <p:spPr>
          <a:xfrm>
            <a:off x="0" y="91440"/>
            <a:ext cx="12161400" cy="36600"/>
          </a:xfrm>
          <a:prstGeom prst="rect">
            <a:avLst/>
          </a:prstGeom>
          <a:solidFill>
            <a:srgbClr val="FCD34D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ead30530a1_3_138"/>
          <p:cNvSpPr/>
          <p:nvPr/>
        </p:nvSpPr>
        <p:spPr>
          <a:xfrm>
            <a:off x="10515600" y="256032"/>
            <a:ext cx="457200" cy="4023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ead30530a1_3_138"/>
          <p:cNvSpPr/>
          <p:nvPr/>
        </p:nvSpPr>
        <p:spPr>
          <a:xfrm>
            <a:off x="11018520" y="256032"/>
            <a:ext cx="457200" cy="4023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ead30530a1_3_138"/>
          <p:cNvSpPr/>
          <p:nvPr/>
        </p:nvSpPr>
        <p:spPr>
          <a:xfrm>
            <a:off x="11521440" y="256032"/>
            <a:ext cx="457200" cy="4023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ead30530a1_3_138"/>
          <p:cNvSpPr/>
          <p:nvPr/>
        </p:nvSpPr>
        <p:spPr>
          <a:xfrm>
            <a:off x="548640" y="256032"/>
            <a:ext cx="914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BÖLÜM </a:t>
            </a:r>
            <a:r>
              <a:rPr b="1" lang="en-US" sz="9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4  </a:t>
            </a: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•  ML SONUÇLARI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ead30530a1_3_138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SVM ve Random Forest Sonuçları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ead30530a1_3_138"/>
          <p:cNvSpPr/>
          <p:nvPr/>
        </p:nvSpPr>
        <p:spPr>
          <a:xfrm>
            <a:off x="548640" y="1353312"/>
            <a:ext cx="594300" cy="549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ead30530a1_3_138"/>
          <p:cNvSpPr/>
          <p:nvPr/>
        </p:nvSpPr>
        <p:spPr>
          <a:xfrm>
            <a:off x="548640" y="1536192"/>
            <a:ext cx="1106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Sınıflandırma sonuçları F1-score ile, kayan pencere tabanlı nesne tespiti ise IoU tabanlı F1 metriğiyle değerlendirilmiştir.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" name="Google Shape;376;g3ead30530a1_3_138" title="Ekran görüntüsü 2026-06-11 034227.png"/>
          <p:cNvPicPr preferRelativeResize="0"/>
          <p:nvPr/>
        </p:nvPicPr>
        <p:blipFill rotWithShape="1">
          <a:blip r:embed="rId3">
            <a:alphaModFix/>
          </a:blip>
          <a:srcRect b="0" l="1162" r="1153" t="0"/>
          <a:stretch/>
        </p:blipFill>
        <p:spPr>
          <a:xfrm>
            <a:off x="548640" y="1920240"/>
            <a:ext cx="7772400" cy="39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g3ead30530a1_3_138"/>
          <p:cNvSpPr/>
          <p:nvPr/>
        </p:nvSpPr>
        <p:spPr>
          <a:xfrm>
            <a:off x="548640" y="5863976"/>
            <a:ext cx="7772400" cy="640200"/>
          </a:xfrm>
          <a:prstGeom prst="rect">
            <a:avLst/>
          </a:prstGeom>
          <a:solidFill>
            <a:srgbClr val="F5EDD8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ead30530a1_3_138"/>
          <p:cNvSpPr/>
          <p:nvPr/>
        </p:nvSpPr>
        <p:spPr>
          <a:xfrm>
            <a:off x="548640" y="5863976"/>
            <a:ext cx="54900" cy="6402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ead30530a1_3_138"/>
          <p:cNvSpPr/>
          <p:nvPr/>
        </p:nvSpPr>
        <p:spPr>
          <a:xfrm>
            <a:off x="777240" y="5891408"/>
            <a:ext cx="7406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Not: RF / Varroa modeli internal sınıflandırmada 0.92 F1 ile başarılı olmuş, ancak final external/detection aşamasına taşınmamıştır.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ead30530a1_3_138"/>
          <p:cNvSpPr/>
          <p:nvPr/>
        </p:nvSpPr>
        <p:spPr>
          <a:xfrm>
            <a:off x="8503920" y="1920240"/>
            <a:ext cx="3383400" cy="463590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ead30530a1_3_138"/>
          <p:cNvSpPr/>
          <p:nvPr/>
        </p:nvSpPr>
        <p:spPr>
          <a:xfrm>
            <a:off x="8503920" y="1920240"/>
            <a:ext cx="3383400" cy="549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ead30530a1_3_138"/>
          <p:cNvSpPr/>
          <p:nvPr/>
        </p:nvSpPr>
        <p:spPr>
          <a:xfrm>
            <a:off x="8641080" y="2057400"/>
            <a:ext cx="310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BULGULAR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3ead30530a1_3_138"/>
          <p:cNvSpPr/>
          <p:nvPr/>
        </p:nvSpPr>
        <p:spPr>
          <a:xfrm>
            <a:off x="8641080" y="2423160"/>
            <a:ext cx="3108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0.94 External F1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ead30530a1_3_138"/>
          <p:cNvSpPr/>
          <p:nvPr/>
        </p:nvSpPr>
        <p:spPr>
          <a:xfrm>
            <a:off x="8641080" y="2926080"/>
            <a:ext cx="3108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SVM / Varroa Dataset, external validation'da en güçlü sınıflandırma sonucunu verdi.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ead30530a1_3_138"/>
          <p:cNvSpPr/>
          <p:nvPr/>
        </p:nvSpPr>
        <p:spPr>
          <a:xfrm>
            <a:off x="8732520" y="3639312"/>
            <a:ext cx="2743200" cy="18300"/>
          </a:xfrm>
          <a:prstGeom prst="rect">
            <a:avLst/>
          </a:prstGeom>
          <a:solidFill>
            <a:srgbClr val="E8D5B0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ead30530a1_3_138"/>
          <p:cNvSpPr/>
          <p:nvPr/>
        </p:nvSpPr>
        <p:spPr>
          <a:xfrm>
            <a:off x="8641080" y="3730752"/>
            <a:ext cx="3108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lang="en-US" sz="1300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Öne Çıkan Kombinasyonlar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ead30530a1_3_138"/>
          <p:cNvSpPr/>
          <p:nvPr/>
        </p:nvSpPr>
        <p:spPr>
          <a:xfrm>
            <a:off x="8641080" y="4078224"/>
            <a:ext cx="3108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Sınıflandırmada HOG16 + HSV + LBP, detection/external aşamalarında ise HOG16 + PCA + HSV + LBP kombinasyonları öne çıktı.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ead30530a1_3_138"/>
          <p:cNvSpPr/>
          <p:nvPr/>
        </p:nvSpPr>
        <p:spPr>
          <a:xfrm>
            <a:off x="8732520" y="4791456"/>
            <a:ext cx="2743200" cy="18300"/>
          </a:xfrm>
          <a:prstGeom prst="rect">
            <a:avLst/>
          </a:prstGeom>
          <a:solidFill>
            <a:srgbClr val="E8D5B0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ead30530a1_3_138"/>
          <p:cNvSpPr/>
          <p:nvPr/>
        </p:nvSpPr>
        <p:spPr>
          <a:xfrm>
            <a:off x="8641080" y="4882896"/>
            <a:ext cx="3108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Kayan Pencere Sınırı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ead30530a1_3_138"/>
          <p:cNvSpPr/>
          <p:nvPr/>
        </p:nvSpPr>
        <p:spPr>
          <a:xfrm>
            <a:off x="8641080" y="5230368"/>
            <a:ext cx="3108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Yüksek sınıflandırma başarısı, tam görüntüde konum belirleme başarısına doğrudan yansımadı.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ead30530a1_3_138"/>
          <p:cNvSpPr/>
          <p:nvPr/>
        </p:nvSpPr>
        <p:spPr>
          <a:xfrm>
            <a:off x="8641080" y="5943600"/>
            <a:ext cx="3108900" cy="18300"/>
          </a:xfrm>
          <a:prstGeom prst="rect">
            <a:avLst/>
          </a:prstGeom>
          <a:solidFill>
            <a:srgbClr val="E8D5B0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ead30530a1_3_138"/>
          <p:cNvSpPr/>
          <p:nvPr/>
        </p:nvSpPr>
        <p:spPr>
          <a:xfrm>
            <a:off x="8641080" y="5998464"/>
            <a:ext cx="31089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Detection: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SVM ext. F1@IoU0.20 = 0.43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RF ext. F1@IoU0.20 = 0.23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ead30530a1_3_138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Marmara Üniversitesi  •  Teknoloji Fakültesi  •  Bilgisayar Mühendisliği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0" y="91440"/>
            <a:ext cx="12161520" cy="36576"/>
          </a:xfrm>
          <a:prstGeom prst="rect">
            <a:avLst/>
          </a:prstGeom>
          <a:solidFill>
            <a:srgbClr val="FCD34D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0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BÖLÜM 5  </a:t>
            </a: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•  CNN YAKLAŞIMI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CNN: Veri Hazırlığı ve Görev Ayrımı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548640" y="1353312"/>
            <a:ext cx="59436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1051560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1101852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1152144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1076248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0"/>
          <p:cNvSpPr/>
          <p:nvPr/>
        </p:nvSpPr>
        <p:spPr>
          <a:xfrm>
            <a:off x="1126540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1176832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0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CNN modelleri iki ayrı görev için hazırlanmıştır: binary sınıflandırma ve bounding-box tabanlı nesne tespiti.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548640" y="2148840"/>
            <a:ext cx="5486400" cy="438912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548640" y="2148840"/>
            <a:ext cx="5486400" cy="64008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1C12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548640" y="2148840"/>
            <a:ext cx="548640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731520" y="214884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Sınıflandırma Görevi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731520" y="2880360"/>
            <a:ext cx="51206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Görüntü düzeyinde etiket: Varroa var (1) / yok (0).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Binary cross-entropy loss ile eğitim.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ResNet18 ve EfficientNet-B0 transfer learning ile.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Son katman freeze + fine-tune stratejisi.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731520" y="4983480"/>
            <a:ext cx="5029200" cy="1371600"/>
          </a:xfrm>
          <a:prstGeom prst="rect">
            <a:avLst/>
          </a:prstGeom>
          <a:solidFill>
            <a:srgbClr val="F5EDD8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914400" y="50749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Augmentation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914400" y="539496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Yatay/dikey çevirme, rastgele kırpma, renk jitter, rotasyon.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6217920" y="2148840"/>
            <a:ext cx="5577840" cy="438912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0"/>
          <p:cNvSpPr/>
          <p:nvPr/>
        </p:nvSpPr>
        <p:spPr>
          <a:xfrm>
            <a:off x="6217920" y="2148840"/>
            <a:ext cx="5577840" cy="64008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6400800" y="2148840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Nesne Tespiti Görevi (YOLO)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6400800" y="2880360"/>
            <a:ext cx="5212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YOLO formatı: class cx cy w h (normalize edilmiş).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XML → YOLO format dönüşümü yapılmıştır.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640×640 giriş; multi-scale training.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Train/val/test split ile stabiliite sağlandı.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6400800" y="4983480"/>
            <a:ext cx="5212080" cy="1371600"/>
          </a:xfrm>
          <a:prstGeom prst="rect">
            <a:avLst/>
          </a:prstGeom>
          <a:solidFill>
            <a:srgbClr val="F5EDD8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0"/>
          <p:cNvSpPr/>
          <p:nvPr/>
        </p:nvSpPr>
        <p:spPr>
          <a:xfrm>
            <a:off x="6583680" y="507492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Görev Ayrımının Önemi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6583680" y="539496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Sınıflandırma 'var mı?'; nesne tespiti 'nerede?' sorusunu yanıtlar. Ayrı modeller ve metrikler kullanıldı.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Marmara Üniversitesi  •  Teknoloji Fakültesi  •  Bilgisayar Mühendisliği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1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1"/>
          <p:cNvSpPr/>
          <p:nvPr/>
        </p:nvSpPr>
        <p:spPr>
          <a:xfrm>
            <a:off x="0" y="91440"/>
            <a:ext cx="12161520" cy="36576"/>
          </a:xfrm>
          <a:prstGeom prst="rect">
            <a:avLst/>
          </a:prstGeom>
          <a:solidFill>
            <a:srgbClr val="FCD34D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BÖLÜM 5  </a:t>
            </a: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•  CNN SINIFLANDIRMA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CNN Sınıflandırma: ResNet18 ve EfficientNet-B0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548640" y="1353312"/>
            <a:ext cx="59436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1"/>
          <p:cNvSpPr/>
          <p:nvPr/>
        </p:nvSpPr>
        <p:spPr>
          <a:xfrm>
            <a:off x="1051560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1"/>
          <p:cNvSpPr/>
          <p:nvPr/>
        </p:nvSpPr>
        <p:spPr>
          <a:xfrm>
            <a:off x="1101852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1"/>
          <p:cNvSpPr/>
          <p:nvPr/>
        </p:nvSpPr>
        <p:spPr>
          <a:xfrm>
            <a:off x="1152144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1"/>
          <p:cNvSpPr/>
          <p:nvPr/>
        </p:nvSpPr>
        <p:spPr>
          <a:xfrm>
            <a:off x="1076248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1"/>
          <p:cNvSpPr/>
          <p:nvPr/>
        </p:nvSpPr>
        <p:spPr>
          <a:xfrm>
            <a:off x="1126540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1176832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ImageNet ağırlıklarıyla önceden eğitilmiş iki CNN mimarisi Varroa sınıflandırmasına uyarlanmıştır.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548640" y="2194560"/>
            <a:ext cx="5669280" cy="438912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1"/>
          <p:cNvSpPr/>
          <p:nvPr/>
        </p:nvSpPr>
        <p:spPr>
          <a:xfrm>
            <a:off x="548640" y="2194560"/>
            <a:ext cx="5669280" cy="73152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1C12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1"/>
          <p:cNvSpPr/>
          <p:nvPr/>
        </p:nvSpPr>
        <p:spPr>
          <a:xfrm>
            <a:off x="548640" y="2194560"/>
            <a:ext cx="566928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1"/>
          <p:cNvSpPr/>
          <p:nvPr/>
        </p:nvSpPr>
        <p:spPr>
          <a:xfrm>
            <a:off x="777240" y="2267712"/>
            <a:ext cx="5212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ResNet18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777240" y="2651760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Residual Network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822960" y="3063240"/>
            <a:ext cx="5212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18 katmanlı derin artık bağlantı mimarisi.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5C3D1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Skip connection'lar degradation sorununu çözer.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5C3D1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Hafif yapısıyla hızlı eğitim ve çıkarım.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5C3D1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Son FC katmanı 2 sınıf için yeniden eğitildi.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777240" y="5029200"/>
            <a:ext cx="5212080" cy="36576"/>
          </a:xfrm>
          <a:prstGeom prst="rect">
            <a:avLst/>
          </a:prstGeom>
          <a:solidFill>
            <a:srgbClr val="E8D5B0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1"/>
          <p:cNvSpPr/>
          <p:nvPr/>
        </p:nvSpPr>
        <p:spPr>
          <a:xfrm>
            <a:off x="777240" y="5138928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Transfer Learning Stratejisi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777240" y="5468112"/>
            <a:ext cx="5212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ImageNet ağırlıkları freeze edilip son katman eğitildi; ardından tüm ağ düşük LR ile fine-tune edildi.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6492240" y="2194560"/>
            <a:ext cx="5669280" cy="438912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1"/>
          <p:cNvSpPr/>
          <p:nvPr/>
        </p:nvSpPr>
        <p:spPr>
          <a:xfrm>
            <a:off x="6492240" y="2194560"/>
            <a:ext cx="5669280" cy="73152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1C12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1"/>
          <p:cNvSpPr/>
          <p:nvPr/>
        </p:nvSpPr>
        <p:spPr>
          <a:xfrm>
            <a:off x="6492240" y="2194560"/>
            <a:ext cx="566928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6720840" y="2267712"/>
            <a:ext cx="5212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EfficientNet-B0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6720840" y="2651760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Compound Scaling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6766560" y="3063240"/>
            <a:ext cx="5212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Derinlik, genişlik ve çözünürlüğü dengeli ölçekler.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5C3D1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Daha az parametre ile yüksek doğruluk hedeflenir.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5C3D1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MBConv blokları depthwise separable conv kullanır.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5C3D1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B0 versiyonu: hafif ama rekabetçi başarı.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6720840" y="5029200"/>
            <a:ext cx="5212080" cy="36576"/>
          </a:xfrm>
          <a:prstGeom prst="rect">
            <a:avLst/>
          </a:prstGeom>
          <a:solidFill>
            <a:srgbClr val="E8D5B0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6720840" y="5138928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Transfer Learning Stratejisi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6720840" y="5468112"/>
            <a:ext cx="5212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ImageNet ağırlıkları freeze edilip son katman eğitildi; ardından tüm ağ düşük LR ile fine-tune edildi.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Marmara Üniversitesi  •  Teknoloji Fakültesi  •  Bilgisayar Mühendisliği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2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2"/>
          <p:cNvSpPr/>
          <p:nvPr/>
        </p:nvSpPr>
        <p:spPr>
          <a:xfrm>
            <a:off x="0" y="91440"/>
            <a:ext cx="12161520" cy="36576"/>
          </a:xfrm>
          <a:prstGeom prst="rect">
            <a:avLst/>
          </a:prstGeom>
          <a:solidFill>
            <a:srgbClr val="FCD34D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2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BÖLÜM 5  </a:t>
            </a: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•  CNN SONUÇLARI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CNN Sınıflandırma Sonuçları (F1-score)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548640" y="1353312"/>
            <a:ext cx="59436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2"/>
          <p:cNvSpPr/>
          <p:nvPr/>
        </p:nvSpPr>
        <p:spPr>
          <a:xfrm>
            <a:off x="1051560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2"/>
          <p:cNvSpPr/>
          <p:nvPr/>
        </p:nvSpPr>
        <p:spPr>
          <a:xfrm>
            <a:off x="1101852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2"/>
          <p:cNvSpPr/>
          <p:nvPr/>
        </p:nvSpPr>
        <p:spPr>
          <a:xfrm>
            <a:off x="1152144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2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EfficientNet-B0 external validation'da CNN ailesinin en dengeli sonucunu vermiştir.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7" name="Google Shape;477;p12"/>
          <p:cNvGraphicFramePr/>
          <p:nvPr/>
        </p:nvGraphicFramePr>
        <p:xfrm>
          <a:off x="548640" y="2148840"/>
          <a:ext cx="7772400" cy="41148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478" name="Google Shape;478;p12"/>
          <p:cNvSpPr/>
          <p:nvPr/>
        </p:nvSpPr>
        <p:spPr>
          <a:xfrm>
            <a:off x="8503920" y="2148840"/>
            <a:ext cx="3383280" cy="411480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8503920" y="2148840"/>
            <a:ext cx="338328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2"/>
          <p:cNvSpPr/>
          <p:nvPr/>
        </p:nvSpPr>
        <p:spPr>
          <a:xfrm>
            <a:off x="8641080" y="22860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BULGULAR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8641080" y="257860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0.85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8641080" y="315468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EfficientNet-B0 external F1 — CNN ailesinde en güçlü genelleme.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8732520" y="3840480"/>
            <a:ext cx="2743200" cy="18288"/>
          </a:xfrm>
          <a:prstGeom prst="rect">
            <a:avLst/>
          </a:prstGeom>
          <a:solidFill>
            <a:srgbClr val="E8D5B0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2"/>
          <p:cNvSpPr/>
          <p:nvPr/>
        </p:nvSpPr>
        <p:spPr>
          <a:xfrm>
            <a:off x="8641080" y="397764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%90.05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8641080" y="44805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EfficientNet-B0 external accuracy.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8732520" y="4937760"/>
            <a:ext cx="2743200" cy="18288"/>
          </a:xfrm>
          <a:prstGeom prst="rect">
            <a:avLst/>
          </a:prstGeom>
          <a:solidFill>
            <a:srgbClr val="E8D5B0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2"/>
          <p:cNvSpPr/>
          <p:nvPr/>
        </p:nvSpPr>
        <p:spPr>
          <a:xfrm>
            <a:off x="8641080" y="50749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Veri seti etkisi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8641080" y="5394960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HoneyBee ile eğitilen EfficientNet external'da düşerken Varroa Dataset versiyonu stabil kaldı.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Marmara Üniversitesi  •  Teknoloji Fakültesi  •  Bilgisayar Mühendisliği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3"/>
          <p:cNvSpPr/>
          <p:nvPr/>
        </p:nvSpPr>
        <p:spPr>
          <a:xfrm>
            <a:off x="0" y="91440"/>
            <a:ext cx="12161520" cy="36576"/>
          </a:xfrm>
          <a:prstGeom prst="rect">
            <a:avLst/>
          </a:prstGeom>
          <a:solidFill>
            <a:srgbClr val="FCD34D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3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BÖLÜM 6  </a:t>
            </a: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•  YOLO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YOLO Tabanlı Nesne Tespiti: Eğitim ve Metrikler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548640" y="1353312"/>
            <a:ext cx="59436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3"/>
          <p:cNvSpPr/>
          <p:nvPr/>
        </p:nvSpPr>
        <p:spPr>
          <a:xfrm>
            <a:off x="1051560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3"/>
          <p:cNvSpPr/>
          <p:nvPr/>
        </p:nvSpPr>
        <p:spPr>
          <a:xfrm>
            <a:off x="1101852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3"/>
          <p:cNvSpPr/>
          <p:nvPr/>
        </p:nvSpPr>
        <p:spPr>
          <a:xfrm>
            <a:off x="1152144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3"/>
          <p:cNvSpPr/>
          <p:nvPr/>
        </p:nvSpPr>
        <p:spPr>
          <a:xfrm>
            <a:off x="1076248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3"/>
          <p:cNvSpPr/>
          <p:nvPr/>
        </p:nvSpPr>
        <p:spPr>
          <a:xfrm>
            <a:off x="1126540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3"/>
          <p:cNvSpPr/>
          <p:nvPr/>
        </p:nvSpPr>
        <p:spPr>
          <a:xfrm>
            <a:off x="1176832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3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YOLOv8n ve YOLOv26n modelleri end-to-end nesne tespiti için eğitilmiştir. Değerlendirme mAP50 ve mAP50-95 ile yapıldı.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3"/>
          <p:cNvSpPr/>
          <p:nvPr/>
        </p:nvSpPr>
        <p:spPr>
          <a:xfrm>
            <a:off x="548640" y="2148840"/>
            <a:ext cx="5577840" cy="320040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3"/>
          <p:cNvSpPr/>
          <p:nvPr/>
        </p:nvSpPr>
        <p:spPr>
          <a:xfrm>
            <a:off x="548640" y="2148840"/>
            <a:ext cx="73152" cy="32004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3"/>
          <p:cNvSpPr/>
          <p:nvPr/>
        </p:nvSpPr>
        <p:spPr>
          <a:xfrm>
            <a:off x="777240" y="224028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Eğitim Konfigürasyonu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3"/>
          <p:cNvSpPr/>
          <p:nvPr/>
        </p:nvSpPr>
        <p:spPr>
          <a:xfrm>
            <a:off x="777240" y="2651760"/>
            <a:ext cx="52120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Giriş boyutu: 640×640 piksel.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Epoch: </a:t>
            </a:r>
            <a:r>
              <a:rPr lang="en-US" sz="1200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— early stopping ile overfitting önlemi.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Optimizer: AdamW, cosine LR scheduler.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Augmentation: mosaic, mixup, flip, HSV shift.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Pretrained COCO ağırlıklarıyla transfer learning.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3"/>
          <p:cNvSpPr/>
          <p:nvPr/>
        </p:nvSpPr>
        <p:spPr>
          <a:xfrm>
            <a:off x="6309360" y="2148840"/>
            <a:ext cx="5486400" cy="320040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3"/>
          <p:cNvSpPr/>
          <p:nvPr/>
        </p:nvSpPr>
        <p:spPr>
          <a:xfrm>
            <a:off x="6309360" y="2148840"/>
            <a:ext cx="73152" cy="32004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3"/>
          <p:cNvSpPr/>
          <p:nvPr/>
        </p:nvSpPr>
        <p:spPr>
          <a:xfrm>
            <a:off x="6537960" y="2240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Değerlendirme Metrikleri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3"/>
          <p:cNvSpPr/>
          <p:nvPr/>
        </p:nvSpPr>
        <p:spPr>
          <a:xfrm>
            <a:off x="6537960" y="269748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Precision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3"/>
          <p:cNvSpPr/>
          <p:nvPr/>
        </p:nvSpPr>
        <p:spPr>
          <a:xfrm>
            <a:off x="8549640" y="2697480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Tespit edilen kutular içinde gerçekten Varroa olanlar.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3"/>
          <p:cNvSpPr/>
          <p:nvPr/>
        </p:nvSpPr>
        <p:spPr>
          <a:xfrm>
            <a:off x="6537960" y="33649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Recall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3"/>
          <p:cNvSpPr/>
          <p:nvPr/>
        </p:nvSpPr>
        <p:spPr>
          <a:xfrm>
            <a:off x="8549640" y="3364992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Gerçek Varroa örnekleri içinde tespit edilenler.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3"/>
          <p:cNvSpPr/>
          <p:nvPr/>
        </p:nvSpPr>
        <p:spPr>
          <a:xfrm>
            <a:off x="6537960" y="4032504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mAP50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3"/>
          <p:cNvSpPr/>
          <p:nvPr/>
        </p:nvSpPr>
        <p:spPr>
          <a:xfrm>
            <a:off x="8549640" y="4032504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IoU≥0.50'de ortalama precision. Temel tespit metriği.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3"/>
          <p:cNvSpPr/>
          <p:nvPr/>
        </p:nvSpPr>
        <p:spPr>
          <a:xfrm>
            <a:off x="6537960" y="4700016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mAP50-95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3"/>
          <p:cNvSpPr/>
          <p:nvPr/>
        </p:nvSpPr>
        <p:spPr>
          <a:xfrm>
            <a:off x="8549640" y="4700016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IoU 0.50–0.95 arasında daha katı değerlendirme.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3"/>
          <p:cNvSpPr/>
          <p:nvPr/>
        </p:nvSpPr>
        <p:spPr>
          <a:xfrm>
            <a:off x="548640" y="5532120"/>
            <a:ext cx="3749040" cy="1097280"/>
          </a:xfrm>
          <a:prstGeom prst="rect">
            <a:avLst/>
          </a:prstGeom>
          <a:solidFill>
            <a:srgbClr val="F5EDD8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3"/>
          <p:cNvSpPr/>
          <p:nvPr/>
        </p:nvSpPr>
        <p:spPr>
          <a:xfrm>
            <a:off x="548640" y="5532120"/>
            <a:ext cx="3749040" cy="6400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3"/>
          <p:cNvSpPr/>
          <p:nvPr/>
        </p:nvSpPr>
        <p:spPr>
          <a:xfrm>
            <a:off x="731520" y="564184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YOLOv8n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3"/>
          <p:cNvSpPr/>
          <p:nvPr/>
        </p:nvSpPr>
        <p:spPr>
          <a:xfrm>
            <a:off x="731520" y="598932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Nano — hız odaklı, rekabetçi doğruluk.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3"/>
          <p:cNvSpPr/>
          <p:nvPr/>
        </p:nvSpPr>
        <p:spPr>
          <a:xfrm>
            <a:off x="4434840" y="5532120"/>
            <a:ext cx="3749040" cy="1097280"/>
          </a:xfrm>
          <a:prstGeom prst="rect">
            <a:avLst/>
          </a:prstGeom>
          <a:solidFill>
            <a:srgbClr val="F5EDD8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3"/>
          <p:cNvSpPr/>
          <p:nvPr/>
        </p:nvSpPr>
        <p:spPr>
          <a:xfrm>
            <a:off x="4434840" y="5532120"/>
            <a:ext cx="3749040" cy="6400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3"/>
          <p:cNvSpPr/>
          <p:nvPr/>
        </p:nvSpPr>
        <p:spPr>
          <a:xfrm>
            <a:off x="4617720" y="564184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YOLOv26n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4617720" y="598932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Güncel mimari; derin feature pyramid.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3"/>
          <p:cNvSpPr/>
          <p:nvPr/>
        </p:nvSpPr>
        <p:spPr>
          <a:xfrm>
            <a:off x="8321040" y="5532120"/>
            <a:ext cx="3749040" cy="1097280"/>
          </a:xfrm>
          <a:prstGeom prst="rect">
            <a:avLst/>
          </a:prstGeom>
          <a:solidFill>
            <a:srgbClr val="F5EDD8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3"/>
          <p:cNvSpPr/>
          <p:nvPr/>
        </p:nvSpPr>
        <p:spPr>
          <a:xfrm>
            <a:off x="8321040" y="5532120"/>
            <a:ext cx="3749040" cy="6400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3"/>
          <p:cNvSpPr/>
          <p:nvPr/>
        </p:nvSpPr>
        <p:spPr>
          <a:xfrm>
            <a:off x="8503920" y="564184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2 Veri Seti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8503920" y="598932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Her model Varroa Dataset ve HoneyBee ile eğitildi.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Marmara Üniversitesi  •  Teknoloji Fakültesi  •  Bilgisayar Mühendisliği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4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4"/>
          <p:cNvSpPr/>
          <p:nvPr/>
        </p:nvSpPr>
        <p:spPr>
          <a:xfrm>
            <a:off x="0" y="91440"/>
            <a:ext cx="12161520" cy="36576"/>
          </a:xfrm>
          <a:prstGeom prst="rect">
            <a:avLst/>
          </a:prstGeom>
          <a:solidFill>
            <a:srgbClr val="FCD34D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4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BÖLÜM 6  </a:t>
            </a: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•  YOLO SONUÇLARI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4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YOLO Sonuçları: mAP50 ve External Düşüş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4"/>
          <p:cNvSpPr/>
          <p:nvPr/>
        </p:nvSpPr>
        <p:spPr>
          <a:xfrm>
            <a:off x="548640" y="1353312"/>
            <a:ext cx="59436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4"/>
          <p:cNvSpPr/>
          <p:nvPr/>
        </p:nvSpPr>
        <p:spPr>
          <a:xfrm>
            <a:off x="1051560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4"/>
          <p:cNvSpPr/>
          <p:nvPr/>
        </p:nvSpPr>
        <p:spPr>
          <a:xfrm>
            <a:off x="1101852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4"/>
          <p:cNvSpPr/>
          <p:nvPr/>
        </p:nvSpPr>
        <p:spPr>
          <a:xfrm>
            <a:off x="1152144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4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YOLO modelleri internal'da güçlü sonuçlar üretirken external'da belirgin performans düşüşü yaşandı.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9" name="Google Shape;549;p14"/>
          <p:cNvGraphicFramePr/>
          <p:nvPr/>
        </p:nvGraphicFramePr>
        <p:xfrm>
          <a:off x="548640" y="2148840"/>
          <a:ext cx="7772400" cy="41148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50" name="Google Shape;550;p14"/>
          <p:cNvSpPr/>
          <p:nvPr/>
        </p:nvSpPr>
        <p:spPr>
          <a:xfrm>
            <a:off x="8503920" y="2148840"/>
            <a:ext cx="3383280" cy="411480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4"/>
          <p:cNvSpPr/>
          <p:nvPr/>
        </p:nvSpPr>
        <p:spPr>
          <a:xfrm>
            <a:off x="8503920" y="2148840"/>
            <a:ext cx="338328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4"/>
          <p:cNvSpPr/>
          <p:nvPr/>
        </p:nvSpPr>
        <p:spPr>
          <a:xfrm>
            <a:off x="8641080" y="22860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GÖZLEMLER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4"/>
          <p:cNvSpPr/>
          <p:nvPr/>
        </p:nvSpPr>
        <p:spPr>
          <a:xfrm>
            <a:off x="8641080" y="2578608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0.629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4"/>
          <p:cNvSpPr/>
          <p:nvPr/>
        </p:nvSpPr>
        <p:spPr>
          <a:xfrm>
            <a:off x="8641080" y="312724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YOLOv8n (Varroa) — YOLO ailesinde external zirvesi.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4"/>
          <p:cNvSpPr/>
          <p:nvPr/>
        </p:nvSpPr>
        <p:spPr>
          <a:xfrm>
            <a:off x="8732520" y="3794760"/>
            <a:ext cx="2743200" cy="18288"/>
          </a:xfrm>
          <a:prstGeom prst="rect">
            <a:avLst/>
          </a:prstGeom>
          <a:solidFill>
            <a:srgbClr val="E8D5B0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4"/>
          <p:cNvSpPr/>
          <p:nvPr/>
        </p:nvSpPr>
        <p:spPr>
          <a:xfrm>
            <a:off x="8641080" y="39319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HoneyBee etkisi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4"/>
          <p:cNvSpPr/>
          <p:nvPr/>
        </p:nvSpPr>
        <p:spPr>
          <a:xfrm>
            <a:off x="8641080" y="425196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HoneyBee ile eğitimde external dramatik düşüş: 0.82 → 0.24.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4"/>
          <p:cNvSpPr/>
          <p:nvPr/>
        </p:nvSpPr>
        <p:spPr>
          <a:xfrm>
            <a:off x="8732520" y="4965192"/>
            <a:ext cx="2743200" cy="18288"/>
          </a:xfrm>
          <a:prstGeom prst="rect">
            <a:avLst/>
          </a:prstGeom>
          <a:solidFill>
            <a:srgbClr val="E8D5B0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4"/>
          <p:cNvSpPr/>
          <p:nvPr/>
        </p:nvSpPr>
        <p:spPr>
          <a:xfrm>
            <a:off x="8641080" y="5102352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Genelleme sorunu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4"/>
          <p:cNvSpPr/>
          <p:nvPr/>
        </p:nvSpPr>
        <p:spPr>
          <a:xfrm>
            <a:off x="8641080" y="5422392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Veri seti dağılım farkı YOLO'yu ciddi etkiledi. Transformer bu düşüşü daha iyi absorbe edecek.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4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Marmara Üniversitesi  •  Teknoloji Fakültesi  •  Bilgisayar Mühendisliği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5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5"/>
          <p:cNvSpPr/>
          <p:nvPr/>
        </p:nvSpPr>
        <p:spPr>
          <a:xfrm>
            <a:off x="0" y="91440"/>
            <a:ext cx="12161520" cy="36576"/>
          </a:xfrm>
          <a:prstGeom prst="rect">
            <a:avLst/>
          </a:prstGeom>
          <a:solidFill>
            <a:srgbClr val="FCD34D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5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BÖLÜM 7  </a:t>
            </a: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•  CNN/YOLO DEĞERLENDIRMESI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5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CNN / YOLO: Güçlü ve Zayıf Yönler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5"/>
          <p:cNvSpPr/>
          <p:nvPr/>
        </p:nvSpPr>
        <p:spPr>
          <a:xfrm>
            <a:off x="548640" y="1353312"/>
            <a:ext cx="59436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5"/>
          <p:cNvSpPr/>
          <p:nvPr/>
        </p:nvSpPr>
        <p:spPr>
          <a:xfrm>
            <a:off x="1051560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5"/>
          <p:cNvSpPr/>
          <p:nvPr/>
        </p:nvSpPr>
        <p:spPr>
          <a:xfrm>
            <a:off x="1101852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5"/>
          <p:cNvSpPr/>
          <p:nvPr/>
        </p:nvSpPr>
        <p:spPr>
          <a:xfrm>
            <a:off x="1152144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5"/>
          <p:cNvSpPr/>
          <p:nvPr/>
        </p:nvSpPr>
        <p:spPr>
          <a:xfrm>
            <a:off x="1076248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5"/>
          <p:cNvSpPr/>
          <p:nvPr/>
        </p:nvSpPr>
        <p:spPr>
          <a:xfrm>
            <a:off x="1126540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5"/>
          <p:cNvSpPr/>
          <p:nvPr/>
        </p:nvSpPr>
        <p:spPr>
          <a:xfrm>
            <a:off x="1176832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5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Derin öğrenme ailesinin güçlü ve zayıf yönleri; transformer mimarileriyle karşılaştırma zemini hazırlanıyor.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5"/>
          <p:cNvSpPr/>
          <p:nvPr/>
        </p:nvSpPr>
        <p:spPr>
          <a:xfrm>
            <a:off x="548640" y="2148840"/>
            <a:ext cx="5486400" cy="438912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5"/>
          <p:cNvSpPr/>
          <p:nvPr/>
        </p:nvSpPr>
        <p:spPr>
          <a:xfrm>
            <a:off x="548640" y="2148840"/>
            <a:ext cx="5486400" cy="685800"/>
          </a:xfrm>
          <a:prstGeom prst="rect">
            <a:avLst/>
          </a:prstGeom>
          <a:solidFill>
            <a:srgbClr val="15803D"/>
          </a:solidFill>
          <a:ln cap="flat" cmpd="sng" w="12700">
            <a:solidFill>
              <a:srgbClr val="1580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5"/>
          <p:cNvSpPr/>
          <p:nvPr/>
        </p:nvSpPr>
        <p:spPr>
          <a:xfrm>
            <a:off x="731520" y="2148840"/>
            <a:ext cx="5120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✓  Güçlü Yönler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5"/>
          <p:cNvSpPr/>
          <p:nvPr/>
        </p:nvSpPr>
        <p:spPr>
          <a:xfrm>
            <a:off x="731520" y="297180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Transfer 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5"/>
          <p:cNvSpPr/>
          <p:nvPr/>
        </p:nvSpPr>
        <p:spPr>
          <a:xfrm>
            <a:off x="731520" y="329184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ImageNet ağırlıkları sınırlı veriyle güçlü başlangıç sağladı.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5"/>
          <p:cNvSpPr/>
          <p:nvPr/>
        </p:nvSpPr>
        <p:spPr>
          <a:xfrm>
            <a:off x="731520" y="3767328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Hızlı Çıkarım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5"/>
          <p:cNvSpPr/>
          <p:nvPr/>
        </p:nvSpPr>
        <p:spPr>
          <a:xfrm>
            <a:off x="731520" y="4087368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YOLO gerçek zamanlı tespit için uygun; düşük gecikme.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5"/>
          <p:cNvSpPr/>
          <p:nvPr/>
        </p:nvSpPr>
        <p:spPr>
          <a:xfrm>
            <a:off x="731520" y="4562856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Augmentation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5"/>
          <p:cNvSpPr/>
          <p:nvPr/>
        </p:nvSpPr>
        <p:spPr>
          <a:xfrm>
            <a:off x="731520" y="4882896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Mosaic ve mixup YOLO'nun küçük veri uyumunu artırdı.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5"/>
          <p:cNvSpPr/>
          <p:nvPr/>
        </p:nvSpPr>
        <p:spPr>
          <a:xfrm>
            <a:off x="731520" y="5358384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EfficientNet Dengesi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5"/>
          <p:cNvSpPr/>
          <p:nvPr/>
        </p:nvSpPr>
        <p:spPr>
          <a:xfrm>
            <a:off x="731520" y="5678424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Az parametre ile yüksek sınıflandırma başarısı.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5"/>
          <p:cNvSpPr/>
          <p:nvPr/>
        </p:nvSpPr>
        <p:spPr>
          <a:xfrm>
            <a:off x="6217920" y="2148840"/>
            <a:ext cx="5577840" cy="438912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5"/>
          <p:cNvSpPr/>
          <p:nvPr/>
        </p:nvSpPr>
        <p:spPr>
          <a:xfrm>
            <a:off x="6217920" y="2148840"/>
            <a:ext cx="5577840" cy="685800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5"/>
          <p:cNvSpPr/>
          <p:nvPr/>
        </p:nvSpPr>
        <p:spPr>
          <a:xfrm>
            <a:off x="6400800" y="2148840"/>
            <a:ext cx="5212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✗  Zayıf Yönler / Kısıtlar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5"/>
          <p:cNvSpPr/>
          <p:nvPr/>
        </p:nvSpPr>
        <p:spPr>
          <a:xfrm>
            <a:off x="6400800" y="297180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Küçük Nesne Zorluğu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5"/>
          <p:cNvSpPr/>
          <p:nvPr/>
        </p:nvSpPr>
        <p:spPr>
          <a:xfrm>
            <a:off x="6400800" y="329184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Varroa görüntüde çok küçük alan kaplar; YOLO zorlanır.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5"/>
          <p:cNvSpPr/>
          <p:nvPr/>
        </p:nvSpPr>
        <p:spPr>
          <a:xfrm>
            <a:off x="6400800" y="3767328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Veri Setine Bağımlılık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5"/>
          <p:cNvSpPr/>
          <p:nvPr/>
        </p:nvSpPr>
        <p:spPr>
          <a:xfrm>
            <a:off x="6400800" y="4087368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HoneyBee eğitiminde external mAP50 dramatik düştü.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5"/>
          <p:cNvSpPr/>
          <p:nvPr/>
        </p:nvSpPr>
        <p:spPr>
          <a:xfrm>
            <a:off x="6400800" y="4562856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Lokal Dikkat Sınırı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5"/>
          <p:cNvSpPr/>
          <p:nvPr/>
        </p:nvSpPr>
        <p:spPr>
          <a:xfrm>
            <a:off x="6400800" y="4882896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CNN'ler global bağlam bilgisini zayıf yakalar.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5"/>
          <p:cNvSpPr/>
          <p:nvPr/>
        </p:nvSpPr>
        <p:spPr>
          <a:xfrm>
            <a:off x="6400800" y="5358384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mAP50-95 Düşüklüğü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5"/>
          <p:cNvSpPr/>
          <p:nvPr/>
        </p:nvSpPr>
        <p:spPr>
          <a:xfrm>
            <a:off x="6400800" y="5678424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Konum hassasiyeti IoU&gt;0.75 eşiklerinde belirgin azaldı.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5"/>
          <p:cNvSpPr/>
          <p:nvPr/>
        </p:nvSpPr>
        <p:spPr>
          <a:xfrm>
            <a:off x="548640" y="660196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Bu kısıtlar, global dikkat mekanizmasına sahip transformer mimarilerini motive etmektedir.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5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Marmara Üniversitesi  •  Teknoloji Fakültesi  •  Bilgisayar Mühendisliği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6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6"/>
          <p:cNvSpPr/>
          <p:nvPr/>
        </p:nvSpPr>
        <p:spPr>
          <a:xfrm>
            <a:off x="0" y="91440"/>
            <a:ext cx="12161520" cy="36576"/>
          </a:xfrm>
          <a:prstGeom prst="rect">
            <a:avLst/>
          </a:prstGeom>
          <a:solidFill>
            <a:srgbClr val="FCD34D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6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BÖLÜM 8  </a:t>
            </a: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•  TRANSFORMER YAKLAŞIMI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Transformer Yaklaşımı: DETR Ailesi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/>
          <p:nvPr/>
        </p:nvSpPr>
        <p:spPr>
          <a:xfrm>
            <a:off x="548640" y="1353312"/>
            <a:ext cx="59436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6"/>
          <p:cNvSpPr/>
          <p:nvPr/>
        </p:nvSpPr>
        <p:spPr>
          <a:xfrm>
            <a:off x="1051560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6"/>
          <p:cNvSpPr/>
          <p:nvPr/>
        </p:nvSpPr>
        <p:spPr>
          <a:xfrm>
            <a:off x="11018520" y="256032"/>
            <a:ext cx="457200" cy="4023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6"/>
          <p:cNvSpPr/>
          <p:nvPr/>
        </p:nvSpPr>
        <p:spPr>
          <a:xfrm>
            <a:off x="1152144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6"/>
          <p:cNvSpPr/>
          <p:nvPr/>
        </p:nvSpPr>
        <p:spPr>
          <a:xfrm>
            <a:off x="1076248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6"/>
          <p:cNvSpPr/>
          <p:nvPr/>
        </p:nvSpPr>
        <p:spPr>
          <a:xfrm>
            <a:off x="1126540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6"/>
          <p:cNvSpPr/>
          <p:nvPr/>
        </p:nvSpPr>
        <p:spPr>
          <a:xfrm>
            <a:off x="1176832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6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Transformer mimarileri, dikkat mekanizmasıyla global bağlamı yakalayarak küçük nesne tespitinde CNN'lere avantaj sağlar.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6"/>
          <p:cNvSpPr/>
          <p:nvPr/>
        </p:nvSpPr>
        <p:spPr>
          <a:xfrm>
            <a:off x="548640" y="2148840"/>
            <a:ext cx="11064240" cy="137160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6"/>
          <p:cNvSpPr/>
          <p:nvPr/>
        </p:nvSpPr>
        <p:spPr>
          <a:xfrm>
            <a:off x="548640" y="2148840"/>
            <a:ext cx="73152" cy="13716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6"/>
          <p:cNvSpPr/>
          <p:nvPr/>
        </p:nvSpPr>
        <p:spPr>
          <a:xfrm>
            <a:off x="822960" y="226771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CD34D"/>
                </a:solidFill>
                <a:latin typeface="Georgia"/>
                <a:ea typeface="Georgia"/>
                <a:cs typeface="Georgia"/>
                <a:sym typeface="Georgia"/>
              </a:rPr>
              <a:t>Neden Transformer?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6"/>
          <p:cNvSpPr/>
          <p:nvPr/>
        </p:nvSpPr>
        <p:spPr>
          <a:xfrm>
            <a:off x="822960" y="2670048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6C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5E6C8"/>
                </a:solidFill>
                <a:latin typeface="Calibri"/>
                <a:ea typeface="Calibri"/>
                <a:cs typeface="Calibri"/>
                <a:sym typeface="Calibri"/>
              </a:rPr>
              <a:t>CNN'ler yerel alıcı alanlarla özellik çıkarır. Transformer'lar ise self-attention ile görüntünün tüm bölgeleri arasındaki ilişkileri aynı anda modelleyebilir — küçük ve kamuflajlı nesnelerde bu avantaj belirleyici olabilir.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6"/>
          <p:cNvSpPr/>
          <p:nvPr/>
        </p:nvSpPr>
        <p:spPr>
          <a:xfrm>
            <a:off x="548640" y="3703320"/>
            <a:ext cx="3749040" cy="283464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6"/>
          <p:cNvSpPr/>
          <p:nvPr/>
        </p:nvSpPr>
        <p:spPr>
          <a:xfrm>
            <a:off x="548640" y="3703320"/>
            <a:ext cx="3749040" cy="64008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1C12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6"/>
          <p:cNvSpPr/>
          <p:nvPr/>
        </p:nvSpPr>
        <p:spPr>
          <a:xfrm>
            <a:off x="731520" y="370332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DETR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6"/>
          <p:cNvSpPr/>
          <p:nvPr/>
        </p:nvSpPr>
        <p:spPr>
          <a:xfrm>
            <a:off x="731520" y="44165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Detection Transformer (2020)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6"/>
          <p:cNvSpPr/>
          <p:nvPr/>
        </p:nvSpPr>
        <p:spPr>
          <a:xfrm>
            <a:off x="731520" y="4736592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CNN backbone + Transformer encoder-decoder.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Bipartite matching ile anchor-free tespit.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Uzun eğitim süresi, basit mimari.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6"/>
          <p:cNvSpPr/>
          <p:nvPr/>
        </p:nvSpPr>
        <p:spPr>
          <a:xfrm>
            <a:off x="4434840" y="3703320"/>
            <a:ext cx="3749040" cy="283464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6"/>
          <p:cNvSpPr/>
          <p:nvPr/>
        </p:nvSpPr>
        <p:spPr>
          <a:xfrm>
            <a:off x="4434840" y="3703320"/>
            <a:ext cx="3749040" cy="64008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1C12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6"/>
          <p:cNvSpPr/>
          <p:nvPr/>
        </p:nvSpPr>
        <p:spPr>
          <a:xfrm>
            <a:off x="4617720" y="370332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Deformable DETR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6"/>
          <p:cNvSpPr/>
          <p:nvPr/>
        </p:nvSpPr>
        <p:spPr>
          <a:xfrm>
            <a:off x="4617720" y="44165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Multi-Scale Deformable Attention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6"/>
          <p:cNvSpPr/>
          <p:nvPr/>
        </p:nvSpPr>
        <p:spPr>
          <a:xfrm>
            <a:off x="4617720" y="4736592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Her token yalnızca seçili referans noktalara dikkat eder.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Hesaplama maliyeti düşer, yakınsama hızlanır.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Çok ölçekli özellik haritaları kullanır.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6"/>
          <p:cNvSpPr/>
          <p:nvPr/>
        </p:nvSpPr>
        <p:spPr>
          <a:xfrm>
            <a:off x="8321040" y="3703320"/>
            <a:ext cx="3749040" cy="2834640"/>
          </a:xfrm>
          <a:prstGeom prst="rect">
            <a:avLst/>
          </a:prstGeom>
          <a:solidFill>
            <a:srgbClr val="FFFBF2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6"/>
          <p:cNvSpPr/>
          <p:nvPr/>
        </p:nvSpPr>
        <p:spPr>
          <a:xfrm>
            <a:off x="8321040" y="3703320"/>
            <a:ext cx="3749040" cy="64008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6"/>
          <p:cNvSpPr/>
          <p:nvPr/>
        </p:nvSpPr>
        <p:spPr>
          <a:xfrm>
            <a:off x="8503920" y="370332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RT-DETR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6"/>
          <p:cNvSpPr/>
          <p:nvPr/>
        </p:nvSpPr>
        <p:spPr>
          <a:xfrm>
            <a:off x="8503920" y="44165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Real-Time Detection Transformer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6"/>
          <p:cNvSpPr/>
          <p:nvPr/>
        </p:nvSpPr>
        <p:spPr>
          <a:xfrm>
            <a:off x="8503920" y="4736592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HybridEncoder: CNN + Transformer hibrit yapısı.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IoU-aware sorgu seçimi ile verimli decoder.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En güçlü external genelleme performansı.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6"/>
          <p:cNvSpPr/>
          <p:nvPr/>
        </p:nvSpPr>
        <p:spPr>
          <a:xfrm>
            <a:off x="8503920" y="6080760"/>
            <a:ext cx="3383280" cy="457200"/>
          </a:xfrm>
          <a:prstGeom prst="rect">
            <a:avLst/>
          </a:prstGeom>
          <a:solidFill>
            <a:srgbClr val="FFF3DC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6"/>
          <p:cNvSpPr/>
          <p:nvPr/>
        </p:nvSpPr>
        <p:spPr>
          <a:xfrm>
            <a:off x="8595360" y="6099048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★  Projenin en başarılı tespit modeli.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6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Marmara Üniversitesi  •  Teknoloji Fakültesi  •  Bilgisayar Mühendisliği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7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7"/>
          <p:cNvSpPr/>
          <p:nvPr/>
        </p:nvSpPr>
        <p:spPr>
          <a:xfrm>
            <a:off x="0" y="91440"/>
            <a:ext cx="12161520" cy="36576"/>
          </a:xfrm>
          <a:prstGeom prst="rect">
            <a:avLst/>
          </a:prstGeom>
          <a:solidFill>
            <a:srgbClr val="FCD34D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7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BÖLÜM 8  </a:t>
            </a: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•  DEFORMABLE DETR / RT-DETR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7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Deformable DETR ve RT-DETR: Teknik Detaylar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7"/>
          <p:cNvSpPr/>
          <p:nvPr/>
        </p:nvSpPr>
        <p:spPr>
          <a:xfrm>
            <a:off x="548640" y="1353312"/>
            <a:ext cx="59436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7"/>
          <p:cNvSpPr/>
          <p:nvPr/>
        </p:nvSpPr>
        <p:spPr>
          <a:xfrm>
            <a:off x="1051560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7"/>
          <p:cNvSpPr/>
          <p:nvPr/>
        </p:nvSpPr>
        <p:spPr>
          <a:xfrm>
            <a:off x="1101852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7"/>
          <p:cNvSpPr/>
          <p:nvPr/>
        </p:nvSpPr>
        <p:spPr>
          <a:xfrm>
            <a:off x="1152144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7"/>
          <p:cNvSpPr/>
          <p:nvPr/>
        </p:nvSpPr>
        <p:spPr>
          <a:xfrm>
            <a:off x="1076248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7"/>
          <p:cNvSpPr/>
          <p:nvPr/>
        </p:nvSpPr>
        <p:spPr>
          <a:xfrm>
            <a:off x="1126540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7"/>
          <p:cNvSpPr/>
          <p:nvPr/>
        </p:nvSpPr>
        <p:spPr>
          <a:xfrm>
            <a:off x="1176832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7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İki modelin mimari tercihleri ve Varroa tespitindeki önemi incelenmektedir.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7"/>
          <p:cNvSpPr/>
          <p:nvPr/>
        </p:nvSpPr>
        <p:spPr>
          <a:xfrm>
            <a:off x="548640" y="2148840"/>
            <a:ext cx="5486400" cy="438912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7"/>
          <p:cNvSpPr/>
          <p:nvPr/>
        </p:nvSpPr>
        <p:spPr>
          <a:xfrm>
            <a:off x="548640" y="2148840"/>
            <a:ext cx="5486400" cy="68580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1C12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7"/>
          <p:cNvSpPr/>
          <p:nvPr/>
        </p:nvSpPr>
        <p:spPr>
          <a:xfrm>
            <a:off x="548640" y="2148840"/>
            <a:ext cx="548640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7"/>
          <p:cNvSpPr/>
          <p:nvPr/>
        </p:nvSpPr>
        <p:spPr>
          <a:xfrm>
            <a:off x="731520" y="2148840"/>
            <a:ext cx="5120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Deformable DETR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7"/>
          <p:cNvSpPr/>
          <p:nvPr/>
        </p:nvSpPr>
        <p:spPr>
          <a:xfrm>
            <a:off x="731520" y="2944368"/>
            <a:ext cx="5120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Multi-Scale Deformable Attention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7"/>
          <p:cNvSpPr/>
          <p:nvPr/>
        </p:nvSpPr>
        <p:spPr>
          <a:xfrm>
            <a:off x="731520" y="324612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Her sorgu, birden fazla ölçek haritasındaki seçili referans noktalara odaklanır.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7"/>
          <p:cNvSpPr/>
          <p:nvPr/>
        </p:nvSpPr>
        <p:spPr>
          <a:xfrm>
            <a:off x="731520" y="3730752"/>
            <a:ext cx="5120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Seyrek Dikkat Avantajı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7"/>
          <p:cNvSpPr/>
          <p:nvPr/>
        </p:nvSpPr>
        <p:spPr>
          <a:xfrm>
            <a:off x="731520" y="4032504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Klasik DETR'de O(n²) dikkat maliyeti büyük ölçüde azaltılır; 10x hız kazanımı.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7"/>
          <p:cNvSpPr/>
          <p:nvPr/>
        </p:nvSpPr>
        <p:spPr>
          <a:xfrm>
            <a:off x="731520" y="4517136"/>
            <a:ext cx="5120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Küçük Nesne Uyumu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7"/>
          <p:cNvSpPr/>
          <p:nvPr/>
        </p:nvSpPr>
        <p:spPr>
          <a:xfrm>
            <a:off x="731520" y="4818888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Farklı ölçeklerdeki feature map'ler sayesinde mikro nesneler daha iyi temsil edilir.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7"/>
          <p:cNvSpPr/>
          <p:nvPr/>
        </p:nvSpPr>
        <p:spPr>
          <a:xfrm>
            <a:off x="731520" y="5303520"/>
            <a:ext cx="5120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External mAP50 = 0.698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7"/>
          <p:cNvSpPr/>
          <p:nvPr/>
        </p:nvSpPr>
        <p:spPr>
          <a:xfrm>
            <a:off x="731520" y="5605272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RT-DETR'den hafif düşük ama YOLO ailesini belirgin biçimde geçer.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7"/>
          <p:cNvSpPr/>
          <p:nvPr/>
        </p:nvSpPr>
        <p:spPr>
          <a:xfrm>
            <a:off x="6217920" y="2148840"/>
            <a:ext cx="5577840" cy="4389120"/>
          </a:xfrm>
          <a:prstGeom prst="rect">
            <a:avLst/>
          </a:prstGeom>
          <a:solidFill>
            <a:srgbClr val="FFFBF2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7"/>
          <p:cNvSpPr/>
          <p:nvPr/>
        </p:nvSpPr>
        <p:spPr>
          <a:xfrm>
            <a:off x="6217920" y="2148840"/>
            <a:ext cx="5577840" cy="6858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7"/>
          <p:cNvSpPr/>
          <p:nvPr/>
        </p:nvSpPr>
        <p:spPr>
          <a:xfrm>
            <a:off x="6400800" y="2148840"/>
            <a:ext cx="5212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★  RT-DETR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7"/>
          <p:cNvSpPr/>
          <p:nvPr/>
        </p:nvSpPr>
        <p:spPr>
          <a:xfrm>
            <a:off x="6400800" y="2944368"/>
            <a:ext cx="52120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HybridEncoder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7"/>
          <p:cNvSpPr/>
          <p:nvPr/>
        </p:nvSpPr>
        <p:spPr>
          <a:xfrm>
            <a:off x="6400800" y="324612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CNN ile Transformer encoder hibridlenerek hem yerel hem global özellikler yakalanır.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7"/>
          <p:cNvSpPr/>
          <p:nvPr/>
        </p:nvSpPr>
        <p:spPr>
          <a:xfrm>
            <a:off x="6400800" y="3730752"/>
            <a:ext cx="52120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IoU-aware Sorgu Seçimi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7"/>
          <p:cNvSpPr/>
          <p:nvPr/>
        </p:nvSpPr>
        <p:spPr>
          <a:xfrm>
            <a:off x="6400800" y="4032504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Yalnızca güçlü aday bölgeler decoder'a iletilir; gereksiz hesaplama engellenir.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7"/>
          <p:cNvSpPr/>
          <p:nvPr/>
        </p:nvSpPr>
        <p:spPr>
          <a:xfrm>
            <a:off x="6400800" y="4517136"/>
            <a:ext cx="52120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Gerçek Zamanlı Hız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7"/>
          <p:cNvSpPr/>
          <p:nvPr/>
        </p:nvSpPr>
        <p:spPr>
          <a:xfrm>
            <a:off x="6400800" y="4818888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DETR ailesi içinde en düşük gecikme — saha uygulamaları için kritik.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7"/>
          <p:cNvSpPr/>
          <p:nvPr/>
        </p:nvSpPr>
        <p:spPr>
          <a:xfrm>
            <a:off x="6400800" y="5303520"/>
            <a:ext cx="52120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External mAP50 = 0.712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7"/>
          <p:cNvSpPr/>
          <p:nvPr/>
        </p:nvSpPr>
        <p:spPr>
          <a:xfrm>
            <a:off x="6400800" y="5605272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Projenin nesne tespitindeki en yüksek external skoru.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7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Marmara Üniversitesi  •  Teknoloji Fakültesi  •  Bilgisayar Mühendisliği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8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8"/>
          <p:cNvSpPr/>
          <p:nvPr/>
        </p:nvSpPr>
        <p:spPr>
          <a:xfrm>
            <a:off x="0" y="91440"/>
            <a:ext cx="12161520" cy="36576"/>
          </a:xfrm>
          <a:prstGeom prst="rect">
            <a:avLst/>
          </a:prstGeom>
          <a:solidFill>
            <a:srgbClr val="FCD34D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8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BÖLÜM 8  </a:t>
            </a: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•  TRANSFORMER SONUÇLARI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8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Transformer Sonuçları (mAP50)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8"/>
          <p:cNvSpPr/>
          <p:nvPr/>
        </p:nvSpPr>
        <p:spPr>
          <a:xfrm>
            <a:off x="548640" y="1353312"/>
            <a:ext cx="59436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8"/>
          <p:cNvSpPr/>
          <p:nvPr/>
        </p:nvSpPr>
        <p:spPr>
          <a:xfrm>
            <a:off x="1051560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8"/>
          <p:cNvSpPr/>
          <p:nvPr/>
        </p:nvSpPr>
        <p:spPr>
          <a:xfrm>
            <a:off x="1101852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8"/>
          <p:cNvSpPr/>
          <p:nvPr/>
        </p:nvSpPr>
        <p:spPr>
          <a:xfrm>
            <a:off x="1152144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8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Transformer modelleri YOLO'ya kıyasla daha dengeli ve yüksek external performans sergiledi.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97" name="Google Shape;697;p18"/>
          <p:cNvGraphicFramePr/>
          <p:nvPr/>
        </p:nvGraphicFramePr>
        <p:xfrm>
          <a:off x="548640" y="2148840"/>
          <a:ext cx="7772400" cy="41148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698" name="Google Shape;698;p18"/>
          <p:cNvSpPr/>
          <p:nvPr/>
        </p:nvSpPr>
        <p:spPr>
          <a:xfrm>
            <a:off x="8503920" y="2148840"/>
            <a:ext cx="3383280" cy="411480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8"/>
          <p:cNvSpPr/>
          <p:nvPr/>
        </p:nvSpPr>
        <p:spPr>
          <a:xfrm>
            <a:off x="8503920" y="2148840"/>
            <a:ext cx="338328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8"/>
          <p:cNvSpPr/>
          <p:nvPr/>
        </p:nvSpPr>
        <p:spPr>
          <a:xfrm>
            <a:off x="8641080" y="22860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★ EN BAŞARILI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8"/>
          <p:cNvSpPr/>
          <p:nvPr/>
        </p:nvSpPr>
        <p:spPr>
          <a:xfrm>
            <a:off x="8641080" y="2578608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RT-DETR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8"/>
          <p:cNvSpPr/>
          <p:nvPr/>
        </p:nvSpPr>
        <p:spPr>
          <a:xfrm>
            <a:off x="8641080" y="312724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Real-Time Detection Transformer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8"/>
          <p:cNvSpPr/>
          <p:nvPr/>
        </p:nvSpPr>
        <p:spPr>
          <a:xfrm>
            <a:off x="8732520" y="3520440"/>
            <a:ext cx="2743200" cy="1828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8"/>
          <p:cNvSpPr/>
          <p:nvPr/>
        </p:nvSpPr>
        <p:spPr>
          <a:xfrm>
            <a:off x="8641080" y="365760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CD34D"/>
                </a:solidFill>
                <a:latin typeface="Georgia"/>
                <a:ea typeface="Georgia"/>
                <a:cs typeface="Georgia"/>
                <a:sym typeface="Georgia"/>
              </a:rPr>
              <a:t>%71.20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8"/>
          <p:cNvSpPr/>
          <p:nvPr/>
        </p:nvSpPr>
        <p:spPr>
          <a:xfrm>
            <a:off x="8641080" y="42519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external mAP50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8"/>
          <p:cNvSpPr/>
          <p:nvPr/>
        </p:nvSpPr>
        <p:spPr>
          <a:xfrm>
            <a:off x="8732520" y="4663440"/>
            <a:ext cx="2743200" cy="1828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8"/>
          <p:cNvSpPr/>
          <p:nvPr/>
        </p:nvSpPr>
        <p:spPr>
          <a:xfrm>
            <a:off x="8641080" y="48006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FCD34D"/>
                </a:solidFill>
                <a:latin typeface="Georgia"/>
                <a:ea typeface="Georgia"/>
                <a:cs typeface="Georgia"/>
                <a:sym typeface="Georgia"/>
              </a:rPr>
              <a:t>Internal→External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8"/>
          <p:cNvSpPr/>
          <p:nvPr/>
        </p:nvSpPr>
        <p:spPr>
          <a:xfrm>
            <a:off x="8641080" y="5120640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6C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E6C8"/>
                </a:solidFill>
                <a:latin typeface="Calibri"/>
                <a:ea typeface="Calibri"/>
                <a:cs typeface="Calibri"/>
                <a:sym typeface="Calibri"/>
              </a:rPr>
              <a:t>0.815→0.712 — yalnızca 0.10 düşüş. YOLO'nun HoneyBee düşüşüyle kıyaslandığında üstün genelleme.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8"/>
          <p:cNvSpPr/>
          <p:nvPr/>
        </p:nvSpPr>
        <p:spPr>
          <a:xfrm>
            <a:off x="8641080" y="596188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Projenin genel nesne tespiti şampiyonu.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8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Marmara Üniversitesi  •  Teknoloji Fakültesi  •  Bilgisayar Mühendisliği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9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9"/>
          <p:cNvSpPr/>
          <p:nvPr/>
        </p:nvSpPr>
        <p:spPr>
          <a:xfrm>
            <a:off x="0" y="91440"/>
            <a:ext cx="12161520" cy="36576"/>
          </a:xfrm>
          <a:prstGeom prst="rect">
            <a:avLst/>
          </a:prstGeom>
          <a:solidFill>
            <a:srgbClr val="FCD34D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9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BÖLÜM 8  </a:t>
            </a: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•  TRANSFORMER YORUMU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9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Transformer Yorumu: Küçük Nesne ve Attention Avantajı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9"/>
          <p:cNvSpPr/>
          <p:nvPr/>
        </p:nvSpPr>
        <p:spPr>
          <a:xfrm>
            <a:off x="548640" y="1353312"/>
            <a:ext cx="59436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19"/>
          <p:cNvSpPr/>
          <p:nvPr/>
        </p:nvSpPr>
        <p:spPr>
          <a:xfrm>
            <a:off x="1051560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9"/>
          <p:cNvSpPr/>
          <p:nvPr/>
        </p:nvSpPr>
        <p:spPr>
          <a:xfrm>
            <a:off x="1101852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9"/>
          <p:cNvSpPr/>
          <p:nvPr/>
        </p:nvSpPr>
        <p:spPr>
          <a:xfrm>
            <a:off x="1152144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9"/>
          <p:cNvSpPr/>
          <p:nvPr/>
        </p:nvSpPr>
        <p:spPr>
          <a:xfrm>
            <a:off x="1076248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9"/>
          <p:cNvSpPr/>
          <p:nvPr/>
        </p:nvSpPr>
        <p:spPr>
          <a:xfrm>
            <a:off x="1126540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19"/>
          <p:cNvSpPr/>
          <p:nvPr/>
        </p:nvSpPr>
        <p:spPr>
          <a:xfrm>
            <a:off x="1176832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9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Transformer'ların Varroa tespitindeki başarısı dikkat mekanizmasının küçük nesne geometrisini nasıl yakaladığıyla açıklanmaktadır.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9"/>
          <p:cNvSpPr/>
          <p:nvPr/>
        </p:nvSpPr>
        <p:spPr>
          <a:xfrm>
            <a:off x="548640" y="2148840"/>
            <a:ext cx="5303520" cy="438912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9"/>
          <p:cNvSpPr/>
          <p:nvPr/>
        </p:nvSpPr>
        <p:spPr>
          <a:xfrm>
            <a:off x="548640" y="2148840"/>
            <a:ext cx="73152" cy="43891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9"/>
          <p:cNvSpPr/>
          <p:nvPr/>
        </p:nvSpPr>
        <p:spPr>
          <a:xfrm>
            <a:off x="777240" y="2267712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Küçük Nesne Tespitinin Zorluğu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9"/>
          <p:cNvSpPr/>
          <p:nvPr/>
        </p:nvSpPr>
        <p:spPr>
          <a:xfrm>
            <a:off x="777240" y="2816352"/>
            <a:ext cx="493776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Varroa, toplam görüntünün %0.1'inden küçük alan kaplar.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Arı tüyleri ve renk benzerliği görsel kamuflaj oluşturur.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CNN feature pyramid'ı derin katmanlarda uzamsal bilgi kaybeder.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YOLO'nun anchor mekanizması küçük nesneler için suboptimal kalır.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mAP50-95 tüm modellerde belirgin düşüş yaşamıştır.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9"/>
          <p:cNvSpPr/>
          <p:nvPr/>
        </p:nvSpPr>
        <p:spPr>
          <a:xfrm>
            <a:off x="6035040" y="2148840"/>
            <a:ext cx="5577840" cy="4389120"/>
          </a:xfrm>
          <a:prstGeom prst="rect">
            <a:avLst/>
          </a:prstGeom>
          <a:solidFill>
            <a:srgbClr val="FFFBF2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9"/>
          <p:cNvSpPr/>
          <p:nvPr/>
        </p:nvSpPr>
        <p:spPr>
          <a:xfrm>
            <a:off x="6035040" y="2148840"/>
            <a:ext cx="5577840" cy="6858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9"/>
          <p:cNvSpPr/>
          <p:nvPr/>
        </p:nvSpPr>
        <p:spPr>
          <a:xfrm>
            <a:off x="6217920" y="2148840"/>
            <a:ext cx="5212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Attention Mekanizmasının Avantajı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9"/>
          <p:cNvSpPr/>
          <p:nvPr/>
        </p:nvSpPr>
        <p:spPr>
          <a:xfrm>
            <a:off x="6217920" y="2971800"/>
            <a:ext cx="52120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Global Bağlam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9"/>
          <p:cNvSpPr/>
          <p:nvPr/>
        </p:nvSpPr>
        <p:spPr>
          <a:xfrm>
            <a:off x="6217920" y="3273552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Görüntünün her iki ucundaki pikseller arasındaki ilişkiyi tek işlemde kurar.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9"/>
          <p:cNvSpPr/>
          <p:nvPr/>
        </p:nvSpPr>
        <p:spPr>
          <a:xfrm>
            <a:off x="6217920" y="3767328"/>
            <a:ext cx="52120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Çok Ölçekli Temsil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9"/>
          <p:cNvSpPr/>
          <p:nvPr/>
        </p:nvSpPr>
        <p:spPr>
          <a:xfrm>
            <a:off x="6217920" y="406908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Farklı çözünürlükteki feature map'lerden eş zamanlı bilgi toplanır.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9"/>
          <p:cNvSpPr/>
          <p:nvPr/>
        </p:nvSpPr>
        <p:spPr>
          <a:xfrm>
            <a:off x="6217920" y="4562856"/>
            <a:ext cx="52120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Küçük Nesne Odağı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9"/>
          <p:cNvSpPr/>
          <p:nvPr/>
        </p:nvSpPr>
        <p:spPr>
          <a:xfrm>
            <a:off x="6217920" y="4864608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Seyrek dikkat mekanizması Varroa'nın bulunduğu bölgelere seçici odaklanır.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9"/>
          <p:cNvSpPr/>
          <p:nvPr/>
        </p:nvSpPr>
        <p:spPr>
          <a:xfrm>
            <a:off x="6217920" y="5358384"/>
            <a:ext cx="52120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Anchor-Free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9"/>
          <p:cNvSpPr/>
          <p:nvPr/>
        </p:nvSpPr>
        <p:spPr>
          <a:xfrm>
            <a:off x="6217920" y="5660136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Bounding box tahminleri önceden tanımlı anchor'lara bağlı değil — küçük boyutlarda esnek.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9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Marmara Üniversitesi  •  Teknoloji Fakültesi  •  Bilgisayar Mühendisliği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0"/>
          <p:cNvSpPr/>
          <p:nvPr/>
        </p:nvSpPr>
        <p:spPr>
          <a:xfrm>
            <a:off x="0" y="91440"/>
            <a:ext cx="12161520" cy="36576"/>
          </a:xfrm>
          <a:prstGeom prst="rect">
            <a:avLst/>
          </a:prstGeom>
          <a:solidFill>
            <a:srgbClr val="FCD34D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0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BÖLÜM 9  </a:t>
            </a: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•  GENEL KARŞILAŞTIRMA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0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Tüm Model Ailelerinin Genel Karşılaştırması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0"/>
          <p:cNvSpPr/>
          <p:nvPr/>
        </p:nvSpPr>
        <p:spPr>
          <a:xfrm>
            <a:off x="548640" y="1353312"/>
            <a:ext cx="59436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0"/>
          <p:cNvSpPr/>
          <p:nvPr/>
        </p:nvSpPr>
        <p:spPr>
          <a:xfrm>
            <a:off x="1051560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0"/>
          <p:cNvSpPr/>
          <p:nvPr/>
        </p:nvSpPr>
        <p:spPr>
          <a:xfrm>
            <a:off x="1101852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20"/>
          <p:cNvSpPr/>
          <p:nvPr/>
        </p:nvSpPr>
        <p:spPr>
          <a:xfrm>
            <a:off x="1152144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0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Görev türüne ve metriğe göre her ailenin güçlü olduğu koşullar farklılaşmaktadır.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0"/>
          <p:cNvSpPr/>
          <p:nvPr/>
        </p:nvSpPr>
        <p:spPr>
          <a:xfrm>
            <a:off x="548640" y="2148840"/>
            <a:ext cx="5394960" cy="182880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0"/>
          <p:cNvSpPr/>
          <p:nvPr/>
        </p:nvSpPr>
        <p:spPr>
          <a:xfrm>
            <a:off x="548640" y="2148840"/>
            <a:ext cx="73152" cy="18288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0"/>
          <p:cNvSpPr/>
          <p:nvPr/>
        </p:nvSpPr>
        <p:spPr>
          <a:xfrm>
            <a:off x="777240" y="2240280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SINIFLANDIRMA ŞAMPİYONU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0"/>
          <p:cNvSpPr/>
          <p:nvPr/>
        </p:nvSpPr>
        <p:spPr>
          <a:xfrm>
            <a:off x="777240" y="2496312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SVM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0"/>
          <p:cNvSpPr/>
          <p:nvPr/>
        </p:nvSpPr>
        <p:spPr>
          <a:xfrm>
            <a:off x="3200400" y="254203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F1 = 0.94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0"/>
          <p:cNvSpPr/>
          <p:nvPr/>
        </p:nvSpPr>
        <p:spPr>
          <a:xfrm>
            <a:off x="3200400" y="29260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(external)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0"/>
          <p:cNvSpPr/>
          <p:nvPr/>
        </p:nvSpPr>
        <p:spPr>
          <a:xfrm>
            <a:off x="777240" y="324612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El yapımı HOG/HSV/LBP özellikleriyle mükemmel genelleme.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0"/>
          <p:cNvSpPr/>
          <p:nvPr/>
        </p:nvSpPr>
        <p:spPr>
          <a:xfrm>
            <a:off x="6126480" y="2148840"/>
            <a:ext cx="5486400" cy="182880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20"/>
          <p:cNvSpPr/>
          <p:nvPr/>
        </p:nvSpPr>
        <p:spPr>
          <a:xfrm>
            <a:off x="6126480" y="2148840"/>
            <a:ext cx="73152" cy="18288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0"/>
          <p:cNvSpPr/>
          <p:nvPr/>
        </p:nvSpPr>
        <p:spPr>
          <a:xfrm>
            <a:off x="6355080" y="224028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★ NESNE TESPİTİ ŞAMPİYONU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0"/>
          <p:cNvSpPr/>
          <p:nvPr/>
        </p:nvSpPr>
        <p:spPr>
          <a:xfrm>
            <a:off x="6355080" y="2496312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RT-DETR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0"/>
          <p:cNvSpPr/>
          <p:nvPr/>
        </p:nvSpPr>
        <p:spPr>
          <a:xfrm>
            <a:off x="8961120" y="254203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CD34D"/>
                </a:solidFill>
                <a:latin typeface="Georgia"/>
                <a:ea typeface="Georgia"/>
                <a:cs typeface="Georgia"/>
                <a:sym typeface="Georgia"/>
              </a:rPr>
              <a:t>mAP50 = 0.712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0"/>
          <p:cNvSpPr/>
          <p:nvPr/>
        </p:nvSpPr>
        <p:spPr>
          <a:xfrm>
            <a:off x="8961120" y="29260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(external)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0"/>
          <p:cNvSpPr/>
          <p:nvPr/>
        </p:nvSpPr>
        <p:spPr>
          <a:xfrm>
            <a:off x="6355080" y="324612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6C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E6C8"/>
                </a:solidFill>
                <a:latin typeface="Calibri"/>
                <a:ea typeface="Calibri"/>
                <a:cs typeface="Calibri"/>
                <a:sym typeface="Calibri"/>
              </a:rPr>
              <a:t>Çok ölçekli attention ile projenin en güçlü genellemesi.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0"/>
          <p:cNvSpPr/>
          <p:nvPr/>
        </p:nvSpPr>
        <p:spPr>
          <a:xfrm>
            <a:off x="548640" y="4206240"/>
            <a:ext cx="11064240" cy="41148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1C12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20"/>
          <p:cNvSpPr/>
          <p:nvPr/>
        </p:nvSpPr>
        <p:spPr>
          <a:xfrm>
            <a:off x="640080" y="42062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Ailesi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0"/>
          <p:cNvSpPr/>
          <p:nvPr/>
        </p:nvSpPr>
        <p:spPr>
          <a:xfrm>
            <a:off x="3291840" y="420624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Sınıflandırma F1 (ext.)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0"/>
          <p:cNvSpPr/>
          <p:nvPr/>
        </p:nvSpPr>
        <p:spPr>
          <a:xfrm>
            <a:off x="5486400" y="420624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Tespit mAP50 (ext.)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0"/>
          <p:cNvSpPr/>
          <p:nvPr/>
        </p:nvSpPr>
        <p:spPr>
          <a:xfrm>
            <a:off x="7589520" y="420624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Güçlü Yön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0"/>
          <p:cNvSpPr/>
          <p:nvPr/>
        </p:nvSpPr>
        <p:spPr>
          <a:xfrm>
            <a:off x="9692640" y="420624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Kısıt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0"/>
          <p:cNvSpPr/>
          <p:nvPr/>
        </p:nvSpPr>
        <p:spPr>
          <a:xfrm>
            <a:off x="548640" y="4636008"/>
            <a:ext cx="1106424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20"/>
          <p:cNvSpPr/>
          <p:nvPr/>
        </p:nvSpPr>
        <p:spPr>
          <a:xfrm>
            <a:off x="640080" y="4636008"/>
            <a:ext cx="26517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Geleneksel ML (SVM)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0"/>
          <p:cNvSpPr/>
          <p:nvPr/>
        </p:nvSpPr>
        <p:spPr>
          <a:xfrm>
            <a:off x="3291840" y="4636008"/>
            <a:ext cx="2194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0.94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0"/>
          <p:cNvSpPr/>
          <p:nvPr/>
        </p:nvSpPr>
        <p:spPr>
          <a:xfrm>
            <a:off x="5486400" y="4636008"/>
            <a:ext cx="21031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0.4</a:t>
            </a:r>
            <a:r>
              <a:rPr lang="en-US" sz="1050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 (F1@IoU0.20)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0"/>
          <p:cNvSpPr/>
          <p:nvPr/>
        </p:nvSpPr>
        <p:spPr>
          <a:xfrm>
            <a:off x="7589520" y="4636008"/>
            <a:ext cx="21031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Yorumlanabilir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0"/>
          <p:cNvSpPr/>
          <p:nvPr/>
        </p:nvSpPr>
        <p:spPr>
          <a:xfrm>
            <a:off x="9692640" y="4636008"/>
            <a:ext cx="2194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Sliding-window yavaş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0"/>
          <p:cNvSpPr/>
          <p:nvPr/>
        </p:nvSpPr>
        <p:spPr>
          <a:xfrm>
            <a:off x="548640" y="5029200"/>
            <a:ext cx="11064240" cy="393192"/>
          </a:xfrm>
          <a:prstGeom prst="rect">
            <a:avLst/>
          </a:prstGeom>
          <a:solidFill>
            <a:srgbClr val="FFFBF2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0"/>
          <p:cNvSpPr/>
          <p:nvPr/>
        </p:nvSpPr>
        <p:spPr>
          <a:xfrm>
            <a:off x="640080" y="5029200"/>
            <a:ext cx="26517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CNN — EfficientNet-B0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0"/>
          <p:cNvSpPr/>
          <p:nvPr/>
        </p:nvSpPr>
        <p:spPr>
          <a:xfrm>
            <a:off x="3291840" y="5029200"/>
            <a:ext cx="2194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0.85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0"/>
          <p:cNvSpPr/>
          <p:nvPr/>
        </p:nvSpPr>
        <p:spPr>
          <a:xfrm>
            <a:off x="5486400" y="5029200"/>
            <a:ext cx="21031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0"/>
          <p:cNvSpPr/>
          <p:nvPr/>
        </p:nvSpPr>
        <p:spPr>
          <a:xfrm>
            <a:off x="7589520" y="5029200"/>
            <a:ext cx="21031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Transfer learning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0"/>
          <p:cNvSpPr/>
          <p:nvPr/>
        </p:nvSpPr>
        <p:spPr>
          <a:xfrm>
            <a:off x="9692640" y="5029200"/>
            <a:ext cx="2194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Lokal bağlam sınırı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0"/>
          <p:cNvSpPr/>
          <p:nvPr/>
        </p:nvSpPr>
        <p:spPr>
          <a:xfrm>
            <a:off x="548640" y="5422392"/>
            <a:ext cx="11064240" cy="3931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20"/>
          <p:cNvSpPr/>
          <p:nvPr/>
        </p:nvSpPr>
        <p:spPr>
          <a:xfrm>
            <a:off x="640080" y="5422392"/>
            <a:ext cx="26517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CNN — YOLOv8n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0"/>
          <p:cNvSpPr/>
          <p:nvPr/>
        </p:nvSpPr>
        <p:spPr>
          <a:xfrm>
            <a:off x="3291840" y="5422392"/>
            <a:ext cx="2194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0"/>
          <p:cNvSpPr/>
          <p:nvPr/>
        </p:nvSpPr>
        <p:spPr>
          <a:xfrm>
            <a:off x="5486400" y="5422392"/>
            <a:ext cx="21031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0.629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0"/>
          <p:cNvSpPr/>
          <p:nvPr/>
        </p:nvSpPr>
        <p:spPr>
          <a:xfrm>
            <a:off x="7589520" y="5422392"/>
            <a:ext cx="21031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Hızlı, end-to-end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0"/>
          <p:cNvSpPr/>
          <p:nvPr/>
        </p:nvSpPr>
        <p:spPr>
          <a:xfrm>
            <a:off x="9692640" y="5422392"/>
            <a:ext cx="2194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HoneyBee'de düşüş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0"/>
          <p:cNvSpPr/>
          <p:nvPr/>
        </p:nvSpPr>
        <p:spPr>
          <a:xfrm>
            <a:off x="548640" y="5815584"/>
            <a:ext cx="11064240" cy="393192"/>
          </a:xfrm>
          <a:prstGeom prst="rect">
            <a:avLst/>
          </a:prstGeom>
          <a:solidFill>
            <a:srgbClr val="FFF3DC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0"/>
          <p:cNvSpPr/>
          <p:nvPr/>
        </p:nvSpPr>
        <p:spPr>
          <a:xfrm>
            <a:off x="640080" y="5815584"/>
            <a:ext cx="26517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Transformer — RT-DETR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0"/>
          <p:cNvSpPr/>
          <p:nvPr/>
        </p:nvSpPr>
        <p:spPr>
          <a:xfrm>
            <a:off x="3291840" y="5815584"/>
            <a:ext cx="2194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0"/>
          <p:cNvSpPr/>
          <p:nvPr/>
        </p:nvSpPr>
        <p:spPr>
          <a:xfrm>
            <a:off x="5486400" y="5815584"/>
            <a:ext cx="21031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0.712 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0"/>
          <p:cNvSpPr/>
          <p:nvPr/>
        </p:nvSpPr>
        <p:spPr>
          <a:xfrm>
            <a:off x="7589520" y="5815584"/>
            <a:ext cx="210312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En güçlü genelleme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0"/>
          <p:cNvSpPr/>
          <p:nvPr/>
        </p:nvSpPr>
        <p:spPr>
          <a:xfrm>
            <a:off x="9692640" y="5815584"/>
            <a:ext cx="2194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Hesaplama maliyeti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0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Marmara Üniversitesi  •  Teknoloji Fakültesi  •  Bilgisayar Mühendisliği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21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21"/>
          <p:cNvSpPr/>
          <p:nvPr/>
        </p:nvSpPr>
        <p:spPr>
          <a:xfrm>
            <a:off x="0" y="91440"/>
            <a:ext cx="12161520" cy="36576"/>
          </a:xfrm>
          <a:prstGeom prst="rect">
            <a:avLst/>
          </a:prstGeom>
          <a:solidFill>
            <a:srgbClr val="FCD34D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1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BÖLÜM 9  </a:t>
            </a: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•  BULGULAR VE TARTIŞMA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1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Bulgular ve Tartışma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1"/>
          <p:cNvSpPr/>
          <p:nvPr/>
        </p:nvSpPr>
        <p:spPr>
          <a:xfrm>
            <a:off x="548640" y="1353312"/>
            <a:ext cx="59436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1"/>
          <p:cNvSpPr/>
          <p:nvPr/>
        </p:nvSpPr>
        <p:spPr>
          <a:xfrm>
            <a:off x="548640" y="1828800"/>
            <a:ext cx="3749040" cy="210312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1"/>
          <p:cNvSpPr/>
          <p:nvPr/>
        </p:nvSpPr>
        <p:spPr>
          <a:xfrm>
            <a:off x="548640" y="1828800"/>
            <a:ext cx="73152" cy="21031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1"/>
          <p:cNvSpPr/>
          <p:nvPr/>
        </p:nvSpPr>
        <p:spPr>
          <a:xfrm>
            <a:off x="731520" y="1947672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1"/>
          <p:cNvSpPr/>
          <p:nvPr/>
        </p:nvSpPr>
        <p:spPr>
          <a:xfrm>
            <a:off x="1325880" y="1947672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Veri seti seçimi mimari kadar önemli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1"/>
          <p:cNvSpPr/>
          <p:nvPr/>
        </p:nvSpPr>
        <p:spPr>
          <a:xfrm>
            <a:off x="731520" y="2542032"/>
            <a:ext cx="34747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Varroa Dataset üzerinde eğitilen tüm modeller external'da daha dengeli kaldı. HoneyBee bazı modellerde dramatik düşüşe neden oldu.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1"/>
          <p:cNvSpPr/>
          <p:nvPr/>
        </p:nvSpPr>
        <p:spPr>
          <a:xfrm>
            <a:off x="4434840" y="1828800"/>
            <a:ext cx="3749040" cy="210312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21"/>
          <p:cNvSpPr/>
          <p:nvPr/>
        </p:nvSpPr>
        <p:spPr>
          <a:xfrm>
            <a:off x="4434840" y="1828800"/>
            <a:ext cx="73152" cy="21031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21"/>
          <p:cNvSpPr/>
          <p:nvPr/>
        </p:nvSpPr>
        <p:spPr>
          <a:xfrm>
            <a:off x="4617720" y="1947672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1"/>
          <p:cNvSpPr/>
          <p:nvPr/>
        </p:nvSpPr>
        <p:spPr>
          <a:xfrm>
            <a:off x="5212080" y="1947672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Internal validation yanıltıcı olabilir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1"/>
          <p:cNvSpPr/>
          <p:nvPr/>
        </p:nvSpPr>
        <p:spPr>
          <a:xfrm>
            <a:off x="4617720" y="2542032"/>
            <a:ext cx="34747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Yüksek internal skor gerçekçi başarıyı garanti etmez. External validation her değerlendirme protokolünde zorunludur.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1"/>
          <p:cNvSpPr/>
          <p:nvPr/>
        </p:nvSpPr>
        <p:spPr>
          <a:xfrm>
            <a:off x="8321040" y="1828800"/>
            <a:ext cx="3749040" cy="210312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21"/>
          <p:cNvSpPr/>
          <p:nvPr/>
        </p:nvSpPr>
        <p:spPr>
          <a:xfrm>
            <a:off x="8321040" y="1828800"/>
            <a:ext cx="73152" cy="21031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21"/>
          <p:cNvSpPr/>
          <p:nvPr/>
        </p:nvSpPr>
        <p:spPr>
          <a:xfrm>
            <a:off x="8503920" y="1947672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1"/>
          <p:cNvSpPr/>
          <p:nvPr/>
        </p:nvSpPr>
        <p:spPr>
          <a:xfrm>
            <a:off x="9098280" y="1947672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Görev türü model seçimini belirler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1"/>
          <p:cNvSpPr/>
          <p:nvPr/>
        </p:nvSpPr>
        <p:spPr>
          <a:xfrm>
            <a:off x="8503920" y="2542032"/>
            <a:ext cx="34747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Var/yok kararı için SVM ve EfficientNet-B0; konum belirleme için RT-DETR ve Deformable DETR en güçlü seçeneklerdir.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1"/>
          <p:cNvSpPr/>
          <p:nvPr/>
        </p:nvSpPr>
        <p:spPr>
          <a:xfrm>
            <a:off x="548640" y="4069080"/>
            <a:ext cx="3749040" cy="210312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21"/>
          <p:cNvSpPr/>
          <p:nvPr/>
        </p:nvSpPr>
        <p:spPr>
          <a:xfrm>
            <a:off x="548640" y="4069080"/>
            <a:ext cx="73152" cy="21031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21"/>
          <p:cNvSpPr/>
          <p:nvPr/>
        </p:nvSpPr>
        <p:spPr>
          <a:xfrm>
            <a:off x="731520" y="4187952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1"/>
          <p:cNvSpPr/>
          <p:nvPr/>
        </p:nvSpPr>
        <p:spPr>
          <a:xfrm>
            <a:off x="1325880" y="4187952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Transformer küçük nesnede öne çıkıyor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1"/>
          <p:cNvSpPr/>
          <p:nvPr/>
        </p:nvSpPr>
        <p:spPr>
          <a:xfrm>
            <a:off x="731520" y="4782312"/>
            <a:ext cx="34747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Global attention ve çok ölçekli temsil, Varroa'nın mikro ölçekli yapısıyla başa çıkmada CNN'lere belirgin üstünlük sağladı.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1"/>
          <p:cNvSpPr/>
          <p:nvPr/>
        </p:nvSpPr>
        <p:spPr>
          <a:xfrm>
            <a:off x="4434840" y="4069080"/>
            <a:ext cx="3749040" cy="210312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21"/>
          <p:cNvSpPr/>
          <p:nvPr/>
        </p:nvSpPr>
        <p:spPr>
          <a:xfrm>
            <a:off x="4434840" y="4069080"/>
            <a:ext cx="73152" cy="21031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21"/>
          <p:cNvSpPr/>
          <p:nvPr/>
        </p:nvSpPr>
        <p:spPr>
          <a:xfrm>
            <a:off x="4617720" y="4187952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1"/>
          <p:cNvSpPr/>
          <p:nvPr/>
        </p:nvSpPr>
        <p:spPr>
          <a:xfrm>
            <a:off x="5212080" y="4187952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Küçük nesne tespiti hâlâ zorlu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1"/>
          <p:cNvSpPr/>
          <p:nvPr/>
        </p:nvSpPr>
        <p:spPr>
          <a:xfrm>
            <a:off x="4617720" y="4782312"/>
            <a:ext cx="34747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mAP50-95 değerleri mAP50'ye göre tüm modellerde ciddi düşüş yaşadı; konum hassasiyeti geliştirilmesi gereken ana boyuttur.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1"/>
          <p:cNvSpPr/>
          <p:nvPr/>
        </p:nvSpPr>
        <p:spPr>
          <a:xfrm>
            <a:off x="8321040" y="4069080"/>
            <a:ext cx="3749040" cy="210312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21"/>
          <p:cNvSpPr/>
          <p:nvPr/>
        </p:nvSpPr>
        <p:spPr>
          <a:xfrm>
            <a:off x="8321040" y="4069080"/>
            <a:ext cx="73152" cy="21031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21"/>
          <p:cNvSpPr/>
          <p:nvPr/>
        </p:nvSpPr>
        <p:spPr>
          <a:xfrm>
            <a:off x="8503920" y="4187952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06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1"/>
          <p:cNvSpPr/>
          <p:nvPr/>
        </p:nvSpPr>
        <p:spPr>
          <a:xfrm>
            <a:off x="9098280" y="4187952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Geleneksel yöntemler rekabetçi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1"/>
          <p:cNvSpPr/>
          <p:nvPr/>
        </p:nvSpPr>
        <p:spPr>
          <a:xfrm>
            <a:off x="8503920" y="4782312"/>
            <a:ext cx="34747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SVM, klasik özellik mühendisliğiyle sınıflandırmada en yüksek external F1'i elde etti. Yorumlanabilirlik ve düşük maliyet avantajı sürüyor.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1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21"/>
          <p:cNvSpPr/>
          <p:nvPr/>
        </p:nvSpPr>
        <p:spPr>
          <a:xfrm>
            <a:off x="777240" y="6373368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6C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5E6C8"/>
                </a:solidFill>
                <a:latin typeface="Calibri"/>
                <a:ea typeface="Calibri"/>
                <a:cs typeface="Calibri"/>
                <a:sym typeface="Calibri"/>
              </a:rPr>
              <a:t>Genel çıkarım: Model başarısı mimari seçiminden bağımsız değildir — veri seti yapısı, anotasyon kalitesi ve external validation en az mimari kadar belirleyicidir.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1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Marmara Üniversitesi  •  Teknoloji Fakültesi  •  Bilgisayar Mühendisliği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C"/>
        </a:solidFill>
      </p:bgPr>
    </p:bg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22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22"/>
          <p:cNvSpPr/>
          <p:nvPr/>
        </p:nvSpPr>
        <p:spPr>
          <a:xfrm>
            <a:off x="0" y="91440"/>
            <a:ext cx="12161520" cy="36576"/>
          </a:xfrm>
          <a:prstGeom prst="rect">
            <a:avLst/>
          </a:prstGeom>
          <a:solidFill>
            <a:srgbClr val="FCD34D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22"/>
          <p:cNvSpPr/>
          <p:nvPr/>
        </p:nvSpPr>
        <p:spPr>
          <a:xfrm>
            <a:off x="548640" y="256032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BÖLÜM 10  </a:t>
            </a: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•  GELECEK ÇALIŞMALAR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2"/>
          <p:cNvSpPr/>
          <p:nvPr/>
        </p:nvSpPr>
        <p:spPr>
          <a:xfrm>
            <a:off x="548640" y="621792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Sonuç ve Gelecek Çalışmalar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2"/>
          <p:cNvSpPr/>
          <p:nvPr/>
        </p:nvSpPr>
        <p:spPr>
          <a:xfrm>
            <a:off x="548640" y="1353312"/>
            <a:ext cx="59436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22"/>
          <p:cNvSpPr/>
          <p:nvPr/>
        </p:nvSpPr>
        <p:spPr>
          <a:xfrm>
            <a:off x="1051560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22"/>
          <p:cNvSpPr/>
          <p:nvPr/>
        </p:nvSpPr>
        <p:spPr>
          <a:xfrm>
            <a:off x="1101852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2"/>
          <p:cNvSpPr/>
          <p:nvPr/>
        </p:nvSpPr>
        <p:spPr>
          <a:xfrm>
            <a:off x="11521440" y="256032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2"/>
          <p:cNvSpPr/>
          <p:nvPr/>
        </p:nvSpPr>
        <p:spPr>
          <a:xfrm>
            <a:off x="1076248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22"/>
          <p:cNvSpPr/>
          <p:nvPr/>
        </p:nvSpPr>
        <p:spPr>
          <a:xfrm>
            <a:off x="1126540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22"/>
          <p:cNvSpPr/>
          <p:nvPr/>
        </p:nvSpPr>
        <p:spPr>
          <a:xfrm>
            <a:off x="11768328" y="694944"/>
            <a:ext cx="457200" cy="402336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DD9A3"/>
          </a:solidFill>
          <a:ln cap="flat" cmpd="sng" w="9525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22"/>
          <p:cNvSpPr/>
          <p:nvPr/>
        </p:nvSpPr>
        <p:spPr>
          <a:xfrm>
            <a:off x="548640" y="1783080"/>
            <a:ext cx="5486400" cy="4754880"/>
          </a:xfrm>
          <a:prstGeom prst="rect">
            <a:avLst/>
          </a:prstGeom>
          <a:solidFill>
            <a:srgbClr val="FFFBF2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22"/>
          <p:cNvSpPr/>
          <p:nvPr/>
        </p:nvSpPr>
        <p:spPr>
          <a:xfrm>
            <a:off x="548640" y="1783080"/>
            <a:ext cx="5486400" cy="548640"/>
          </a:xfrm>
          <a:prstGeom prst="rect">
            <a:avLst/>
          </a:prstGeom>
          <a:solidFill>
            <a:srgbClr val="1C1208"/>
          </a:solidFill>
          <a:ln cap="flat" cmpd="sng" w="12700">
            <a:solidFill>
              <a:srgbClr val="1C12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22"/>
          <p:cNvSpPr/>
          <p:nvPr/>
        </p:nvSpPr>
        <p:spPr>
          <a:xfrm>
            <a:off x="548640" y="1783080"/>
            <a:ext cx="548640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22"/>
          <p:cNvSpPr/>
          <p:nvPr/>
        </p:nvSpPr>
        <p:spPr>
          <a:xfrm>
            <a:off x="731520" y="1783080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ÇALIŞMANIN SONUCU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2"/>
          <p:cNvSpPr/>
          <p:nvPr/>
        </p:nvSpPr>
        <p:spPr>
          <a:xfrm>
            <a:off x="731520" y="2468880"/>
            <a:ext cx="5120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Varroa parazitinin otonom tespiti için YZ tabanlı yöntemler ümit verici sonuçlar üretmektedir.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2"/>
          <p:cNvSpPr/>
          <p:nvPr/>
        </p:nvSpPr>
        <p:spPr>
          <a:xfrm>
            <a:off x="731520" y="3246120"/>
            <a:ext cx="51206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RT-DETR, external mAP50 = 0.712 ile en güçlü tespit modeli.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SVM, F1 = 0.94 ile sınıflandırmada mükemmel genelleme.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EfficientNet-B0 dengeli ve pratik bir CNN alternatifi oldu.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External validation modelin gerçek değerini ortaya koydu.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C3D1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Veri seti seçimi model başarısında mimari kadar belirleyici.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2"/>
          <p:cNvSpPr/>
          <p:nvPr/>
        </p:nvSpPr>
        <p:spPr>
          <a:xfrm>
            <a:off x="6217920" y="1783080"/>
            <a:ext cx="5577840" cy="4754880"/>
          </a:xfrm>
          <a:prstGeom prst="rect">
            <a:avLst/>
          </a:prstGeom>
          <a:solidFill>
            <a:srgbClr val="FFFBF2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22"/>
          <p:cNvSpPr/>
          <p:nvPr/>
        </p:nvSpPr>
        <p:spPr>
          <a:xfrm>
            <a:off x="6217920" y="1783080"/>
            <a:ext cx="5577840" cy="5486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2"/>
          <p:cNvSpPr/>
          <p:nvPr/>
        </p:nvSpPr>
        <p:spPr>
          <a:xfrm>
            <a:off x="6400800" y="1783080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GELECEK ÇALIŞMALAR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2"/>
          <p:cNvSpPr/>
          <p:nvPr/>
        </p:nvSpPr>
        <p:spPr>
          <a:xfrm>
            <a:off x="6400800" y="2487168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2"/>
          <p:cNvSpPr/>
          <p:nvPr/>
        </p:nvSpPr>
        <p:spPr>
          <a:xfrm>
            <a:off x="6903720" y="2487168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Genişletilmiş Veri Seti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2"/>
          <p:cNvSpPr/>
          <p:nvPr/>
        </p:nvSpPr>
        <p:spPr>
          <a:xfrm>
            <a:off x="6903720" y="2834640"/>
            <a:ext cx="4663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Farklı kamera, ışık ve arı pozisyonlarını kapsayan çeşitli veri toplama.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2"/>
          <p:cNvSpPr/>
          <p:nvPr/>
        </p:nvSpPr>
        <p:spPr>
          <a:xfrm>
            <a:off x="6400800" y="3465576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2"/>
          <p:cNvSpPr/>
          <p:nvPr/>
        </p:nvSpPr>
        <p:spPr>
          <a:xfrm>
            <a:off x="6903720" y="3465576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Etiket Kalitesi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2"/>
          <p:cNvSpPr/>
          <p:nvPr/>
        </p:nvSpPr>
        <p:spPr>
          <a:xfrm>
            <a:off x="6903720" y="3813048"/>
            <a:ext cx="4663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Uzman apiculturist doğrulamasıyla bounding box güvenilirliğinin artırılması.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2"/>
          <p:cNvSpPr/>
          <p:nvPr/>
        </p:nvSpPr>
        <p:spPr>
          <a:xfrm>
            <a:off x="6400800" y="4443984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2"/>
          <p:cNvSpPr/>
          <p:nvPr/>
        </p:nvSpPr>
        <p:spPr>
          <a:xfrm>
            <a:off x="6903720" y="4443984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Model Optimizasyonu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2"/>
          <p:cNvSpPr/>
          <p:nvPr/>
        </p:nvSpPr>
        <p:spPr>
          <a:xfrm>
            <a:off x="6903720" y="4791456"/>
            <a:ext cx="4663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Hiperparametre araması, ensemble ve knowledge distillation.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2"/>
          <p:cNvSpPr/>
          <p:nvPr/>
        </p:nvSpPr>
        <p:spPr>
          <a:xfrm>
            <a:off x="6400800" y="5422392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D97706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2"/>
          <p:cNvSpPr/>
          <p:nvPr/>
        </p:nvSpPr>
        <p:spPr>
          <a:xfrm>
            <a:off x="6903720" y="5422392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Saha Entegrasyonu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2"/>
          <p:cNvSpPr/>
          <p:nvPr/>
        </p:nvSpPr>
        <p:spPr>
          <a:xfrm>
            <a:off x="6903720" y="5769864"/>
            <a:ext cx="4663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3D1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3D1E"/>
                </a:solidFill>
                <a:latin typeface="Calibri"/>
                <a:ea typeface="Calibri"/>
                <a:cs typeface="Calibri"/>
                <a:sym typeface="Calibri"/>
              </a:rPr>
              <a:t>Web/mobil arayüz ve gerçek kovan koşullarında doğrulama.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2"/>
          <p:cNvSpPr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Marmara Üniversitesi  •  Teknoloji Fakültesi  •  Bilgisayar Mühendisliği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208"/>
        </a:solidFill>
      </p:bgPr>
    </p:bg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23"/>
          <p:cNvSpPr/>
          <p:nvPr/>
        </p:nvSpPr>
        <p:spPr>
          <a:xfrm>
            <a:off x="8229600" y="-182880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E1A0A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23"/>
          <p:cNvSpPr/>
          <p:nvPr/>
        </p:nvSpPr>
        <p:spPr>
          <a:xfrm>
            <a:off x="9006840" y="-182880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61508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23"/>
          <p:cNvSpPr/>
          <p:nvPr/>
        </p:nvSpPr>
        <p:spPr>
          <a:xfrm>
            <a:off x="9784080" y="-182880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321C0C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23"/>
          <p:cNvSpPr/>
          <p:nvPr/>
        </p:nvSpPr>
        <p:spPr>
          <a:xfrm>
            <a:off x="10561320" y="-182880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E1A0A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23"/>
          <p:cNvSpPr/>
          <p:nvPr/>
        </p:nvSpPr>
        <p:spPr>
          <a:xfrm>
            <a:off x="11338560" y="-182880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61508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23"/>
          <p:cNvSpPr/>
          <p:nvPr/>
        </p:nvSpPr>
        <p:spPr>
          <a:xfrm>
            <a:off x="8613648" y="484632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61508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23"/>
          <p:cNvSpPr/>
          <p:nvPr/>
        </p:nvSpPr>
        <p:spPr>
          <a:xfrm>
            <a:off x="9390888" y="484632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321C0C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3"/>
          <p:cNvSpPr/>
          <p:nvPr/>
        </p:nvSpPr>
        <p:spPr>
          <a:xfrm>
            <a:off x="10168128" y="484632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E1A0A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23"/>
          <p:cNvSpPr/>
          <p:nvPr/>
        </p:nvSpPr>
        <p:spPr>
          <a:xfrm>
            <a:off x="10945368" y="484632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61508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23"/>
          <p:cNvSpPr/>
          <p:nvPr/>
        </p:nvSpPr>
        <p:spPr>
          <a:xfrm>
            <a:off x="11722608" y="484632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321C0C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23"/>
          <p:cNvSpPr/>
          <p:nvPr/>
        </p:nvSpPr>
        <p:spPr>
          <a:xfrm>
            <a:off x="8229600" y="1152144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321C0C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23"/>
          <p:cNvSpPr/>
          <p:nvPr/>
        </p:nvSpPr>
        <p:spPr>
          <a:xfrm>
            <a:off x="9006840" y="1152144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E1A0A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23"/>
          <p:cNvSpPr/>
          <p:nvPr/>
        </p:nvSpPr>
        <p:spPr>
          <a:xfrm>
            <a:off x="9784080" y="1152144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61508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3"/>
          <p:cNvSpPr/>
          <p:nvPr/>
        </p:nvSpPr>
        <p:spPr>
          <a:xfrm>
            <a:off x="10561320" y="1152144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321C0C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23"/>
          <p:cNvSpPr/>
          <p:nvPr/>
        </p:nvSpPr>
        <p:spPr>
          <a:xfrm>
            <a:off x="11338560" y="1152144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E1A0A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23"/>
          <p:cNvSpPr/>
          <p:nvPr/>
        </p:nvSpPr>
        <p:spPr>
          <a:xfrm>
            <a:off x="8613648" y="1819656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E1A0A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23"/>
          <p:cNvSpPr/>
          <p:nvPr/>
        </p:nvSpPr>
        <p:spPr>
          <a:xfrm>
            <a:off x="9390888" y="1819656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61508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23"/>
          <p:cNvSpPr/>
          <p:nvPr/>
        </p:nvSpPr>
        <p:spPr>
          <a:xfrm>
            <a:off x="10168128" y="1819656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321C0C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23"/>
          <p:cNvSpPr/>
          <p:nvPr/>
        </p:nvSpPr>
        <p:spPr>
          <a:xfrm>
            <a:off x="10945368" y="1819656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E1A0A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23"/>
          <p:cNvSpPr/>
          <p:nvPr/>
        </p:nvSpPr>
        <p:spPr>
          <a:xfrm>
            <a:off x="11722608" y="1819656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61508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23"/>
          <p:cNvSpPr/>
          <p:nvPr/>
        </p:nvSpPr>
        <p:spPr>
          <a:xfrm>
            <a:off x="8229600" y="2487168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61508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23"/>
          <p:cNvSpPr/>
          <p:nvPr/>
        </p:nvSpPr>
        <p:spPr>
          <a:xfrm>
            <a:off x="9006840" y="2487168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321C0C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23"/>
          <p:cNvSpPr/>
          <p:nvPr/>
        </p:nvSpPr>
        <p:spPr>
          <a:xfrm>
            <a:off x="9784080" y="2487168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E1A0A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23"/>
          <p:cNvSpPr/>
          <p:nvPr/>
        </p:nvSpPr>
        <p:spPr>
          <a:xfrm>
            <a:off x="10561320" y="2487168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261508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23"/>
          <p:cNvSpPr/>
          <p:nvPr/>
        </p:nvSpPr>
        <p:spPr>
          <a:xfrm>
            <a:off x="11338560" y="2487168"/>
            <a:ext cx="713232" cy="62179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321C0C"/>
          </a:solidFill>
          <a:ln cap="flat" cmpd="sng" w="9525">
            <a:solidFill>
              <a:srgbClr val="3A2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2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23"/>
          <p:cNvSpPr/>
          <p:nvPr/>
        </p:nvSpPr>
        <p:spPr>
          <a:xfrm>
            <a:off x="457200" y="164592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Georgia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Teşekkürler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3"/>
          <p:cNvSpPr/>
          <p:nvPr/>
        </p:nvSpPr>
        <p:spPr>
          <a:xfrm>
            <a:off x="457200" y="3017520"/>
            <a:ext cx="1371600" cy="457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23"/>
          <p:cNvSpPr/>
          <p:nvPr/>
        </p:nvSpPr>
        <p:spPr>
          <a:xfrm>
            <a:off x="457200" y="40690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Ömer Faruk Akçay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3"/>
          <p:cNvSpPr/>
          <p:nvPr/>
        </p:nvSpPr>
        <p:spPr>
          <a:xfrm>
            <a:off x="457200" y="44348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Geleneksel 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3"/>
          <p:cNvSpPr/>
          <p:nvPr/>
        </p:nvSpPr>
        <p:spPr>
          <a:xfrm>
            <a:off x="4297680" y="40690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Gökdeniz Şeker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3"/>
          <p:cNvSpPr/>
          <p:nvPr/>
        </p:nvSpPr>
        <p:spPr>
          <a:xfrm>
            <a:off x="4297680" y="44348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CNN &amp; YOLO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3"/>
          <p:cNvSpPr/>
          <p:nvPr/>
        </p:nvSpPr>
        <p:spPr>
          <a:xfrm>
            <a:off x="8138160" y="40690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Doğukan Özek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3"/>
          <p:cNvSpPr/>
          <p:nvPr/>
        </p:nvSpPr>
        <p:spPr>
          <a:xfrm>
            <a:off x="8138160" y="44348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Transformer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3"/>
          <p:cNvSpPr/>
          <p:nvPr/>
        </p:nvSpPr>
        <p:spPr>
          <a:xfrm>
            <a:off x="457200" y="4983480"/>
            <a:ext cx="11247120" cy="1463040"/>
          </a:xfrm>
          <a:prstGeom prst="rect">
            <a:avLst/>
          </a:prstGeom>
          <a:solidFill>
            <a:srgbClr val="2A1C0E"/>
          </a:solidFill>
          <a:ln cap="flat" cmpd="sng" w="12700">
            <a:solidFill>
              <a:srgbClr val="E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3"/>
          <p:cNvSpPr/>
          <p:nvPr/>
        </p:nvSpPr>
        <p:spPr>
          <a:xfrm>
            <a:off x="457200" y="4983480"/>
            <a:ext cx="73152" cy="14630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23"/>
          <p:cNvSpPr/>
          <p:nvPr/>
        </p:nvSpPr>
        <p:spPr>
          <a:xfrm>
            <a:off x="731520" y="5138928"/>
            <a:ext cx="10789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6C8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F5E6C8"/>
                </a:solidFill>
                <a:latin typeface="Calibri"/>
                <a:ea typeface="Calibri"/>
                <a:cs typeface="Calibri"/>
                <a:sym typeface="Calibri"/>
              </a:rPr>
              <a:t>Danışmanımız Doç. Dr. Ayşe Berna Altınel Girgin'e rehberliği süreç boyunca verdiği destek için içtenlikle teşekkür ederiz.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23"/>
          <p:cNvSpPr/>
          <p:nvPr/>
        </p:nvSpPr>
        <p:spPr>
          <a:xfrm>
            <a:off x="457200" y="6473952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7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87D3A"/>
                </a:solidFill>
                <a:latin typeface="Calibri"/>
                <a:ea typeface="Calibri"/>
                <a:cs typeface="Calibri"/>
                <a:sym typeface="Calibri"/>
              </a:rPr>
              <a:t>Bal Arısı Kolonilerinde Varroa Paraziti Tespiti  •  Marmara Üniversitesi  •  Haziran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2026-06-10T18:16:31Z</dcterms:created>
  <dc:creator>PptxGenJS</dc:creator>
</cp:coreProperties>
</file>